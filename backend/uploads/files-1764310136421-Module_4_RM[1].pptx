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17"/>
  </p:notesMasterIdLst>
  <p:handoutMasterIdLst>
    <p:handoutMasterId r:id="rId18"/>
  </p:handoutMasterIdLst>
  <p:sldIdLst>
    <p:sldId id="302" r:id="rId5"/>
    <p:sldId id="322" r:id="rId6"/>
    <p:sldId id="323" r:id="rId7"/>
    <p:sldId id="324" r:id="rId8"/>
    <p:sldId id="325" r:id="rId9"/>
    <p:sldId id="326" r:id="rId10"/>
    <p:sldId id="327" r:id="rId11"/>
    <p:sldId id="328" r:id="rId12"/>
    <p:sldId id="329" r:id="rId13"/>
    <p:sldId id="330" r:id="rId14"/>
    <p:sldId id="331" r:id="rId15"/>
    <p:sldId id="332" r:id="rId1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12">
          <p15:clr>
            <a:srgbClr val="A4A3A4"/>
          </p15:clr>
        </p15:guide>
        <p15:guide id="3" orient="horz" pos="720">
          <p15:clr>
            <a:srgbClr val="A4A3A4"/>
          </p15:clr>
        </p15:guide>
        <p15:guide id="4" orient="horz" pos="3744">
          <p15:clr>
            <a:srgbClr val="A4A3A4"/>
          </p15:clr>
        </p15:guide>
        <p15:guide id="5" orient="horz" pos="1104">
          <p15:clr>
            <a:srgbClr val="A4A3A4"/>
          </p15:clr>
        </p15:guide>
        <p15:guide id="6" pos="3839">
          <p15:clr>
            <a:srgbClr val="A4A3A4"/>
          </p15:clr>
        </p15:guide>
        <p15:guide id="7" pos="384">
          <p15:clr>
            <a:srgbClr val="A4A3A4"/>
          </p15:clr>
        </p15:guide>
        <p15:guide id="8" pos="729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m Gore" initials="SG" lastIdx="1" clrIdx="0">
    <p:extLst>
      <p:ext uri="{19B8F6BF-5375-455C-9EA6-DF929625EA0E}">
        <p15:presenceInfo xmlns:p15="http://schemas.microsoft.com/office/powerpoint/2012/main" userId="S::Shubham.Gore@veritas.com::045162df-778a-430d-8bd5-ef9777a6b81f" providerId="AD"/>
      </p:ext>
    </p:extLst>
  </p:cmAuthor>
  <p:cmAuthor id="2" name="Abhay Ghanghav" initials="AG" lastIdx="1" clrIdx="1">
    <p:extLst>
      <p:ext uri="{19B8F6BF-5375-455C-9EA6-DF929625EA0E}">
        <p15:presenceInfo xmlns:p15="http://schemas.microsoft.com/office/powerpoint/2012/main" userId="S::abhay.ghanghav@veritas.com::873eb6f2-3dbd-4858-99d1-88f21753462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86689"/>
  </p:normalViewPr>
  <p:slideViewPr>
    <p:cSldViewPr snapToGrid="0">
      <p:cViewPr varScale="1">
        <p:scale>
          <a:sx n="83" d="100"/>
          <a:sy n="83" d="100"/>
        </p:scale>
        <p:origin x="614" y="58"/>
      </p:cViewPr>
      <p:guideLst>
        <p:guide orient="horz" pos="2160"/>
        <p:guide orient="horz" pos="912"/>
        <p:guide orient="horz" pos="720"/>
        <p:guide orient="horz" pos="3744"/>
        <p:guide orient="horz" pos="1104"/>
        <p:guide pos="3839"/>
        <p:guide pos="384"/>
        <p:guide pos="7294"/>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1-02-04T18:51:25.033"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Corbe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F63A3DD-7C70-C04D-A0AB-DF3E18FAA375}" type="datetimeFigureOut">
              <a:rPr lang="en-US" smtClean="0">
                <a:latin typeface="Corbel"/>
              </a:rPr>
              <a:t>11/26/2025</a:t>
            </a:fld>
            <a:endParaRPr lang="en-US">
              <a:latin typeface="Corbe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Corbe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8F3097-495D-1241-AD6C-9F2FB2DC8339}" type="slidenum">
              <a:rPr lang="en-US" smtClean="0">
                <a:latin typeface="Corbel"/>
              </a:rPr>
              <a:t>‹#›</a:t>
            </a:fld>
            <a:endParaRPr lang="en-US">
              <a:latin typeface="Corbel"/>
            </a:endParaRPr>
          </a:p>
        </p:txBody>
      </p:sp>
    </p:spTree>
    <p:extLst>
      <p:ext uri="{BB962C8B-B14F-4D97-AF65-F5344CB8AC3E}">
        <p14:creationId xmlns:p14="http://schemas.microsoft.com/office/powerpoint/2010/main" val="2112432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orbe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orbel"/>
              </a:defRPr>
            </a:lvl1pPr>
          </a:lstStyle>
          <a:p>
            <a:fld id="{6C759D83-F0B0-A44E-865C-D659494CB32D}" type="datetimeFigureOut">
              <a:rPr lang="en-US" smtClean="0"/>
              <a:pPr/>
              <a:t>11/26/2025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orbe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orbel"/>
              </a:defRPr>
            </a:lvl1pPr>
          </a:lstStyle>
          <a:p>
            <a:fld id="{FF46B7E1-4822-D64D-82B5-5688A8336587}" type="slidenum">
              <a:rPr lang="en-US" smtClean="0"/>
              <a:pPr/>
              <a:t>‹#›</a:t>
            </a:fld>
            <a:endParaRPr lang="en-US"/>
          </a:p>
        </p:txBody>
      </p:sp>
    </p:spTree>
    <p:extLst>
      <p:ext uri="{BB962C8B-B14F-4D97-AF65-F5344CB8AC3E}">
        <p14:creationId xmlns:p14="http://schemas.microsoft.com/office/powerpoint/2010/main" val="36908139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Corbel"/>
        <a:ea typeface="+mn-ea"/>
        <a:cs typeface="+mn-cs"/>
      </a:defRPr>
    </a:lvl1pPr>
    <a:lvl2pPr marL="457200" algn="l" defTabSz="457200" rtl="0" eaLnBrk="1" latinLnBrk="0" hangingPunct="1">
      <a:defRPr sz="1200" kern="1200">
        <a:solidFill>
          <a:schemeClr val="tx1"/>
        </a:solidFill>
        <a:latin typeface="Corbel"/>
        <a:ea typeface="+mn-ea"/>
        <a:cs typeface="+mn-cs"/>
      </a:defRPr>
    </a:lvl2pPr>
    <a:lvl3pPr marL="914400" algn="l" defTabSz="457200" rtl="0" eaLnBrk="1" latinLnBrk="0" hangingPunct="1">
      <a:defRPr sz="1200" kern="1200">
        <a:solidFill>
          <a:schemeClr val="tx1"/>
        </a:solidFill>
        <a:latin typeface="Corbel"/>
        <a:ea typeface="+mn-ea"/>
        <a:cs typeface="+mn-cs"/>
      </a:defRPr>
    </a:lvl3pPr>
    <a:lvl4pPr marL="1371600" algn="l" defTabSz="457200" rtl="0" eaLnBrk="1" latinLnBrk="0" hangingPunct="1">
      <a:defRPr sz="1200" kern="1200">
        <a:solidFill>
          <a:schemeClr val="tx1"/>
        </a:solidFill>
        <a:latin typeface="Corbel"/>
        <a:ea typeface="+mn-ea"/>
        <a:cs typeface="+mn-cs"/>
      </a:defRPr>
    </a:lvl4pPr>
    <a:lvl5pPr marL="1828800" algn="l" defTabSz="457200" rtl="0" eaLnBrk="1" latinLnBrk="0" hangingPunct="1">
      <a:defRPr sz="1200" kern="1200">
        <a:solidFill>
          <a:schemeClr val="tx1"/>
        </a:solidFill>
        <a:latin typeface="Corbe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6625" y="284163"/>
            <a:ext cx="4984750" cy="2805112"/>
          </a:xfrm>
        </p:spPr>
      </p:sp>
      <p:sp>
        <p:nvSpPr>
          <p:cNvPr id="3" name="Notes Placeholder 2"/>
          <p:cNvSpPr>
            <a:spLocks noGrp="1"/>
          </p:cNvSpPr>
          <p:nvPr>
            <p:ph type="body" idx="1"/>
          </p:nvPr>
        </p:nvSpPr>
        <p:spPr/>
        <p:txBody>
          <a:bodyPr>
            <a:normAutofit/>
          </a:bodyPr>
          <a:lstStyle/>
          <a:p>
            <a:r>
              <a:rPr lang="en-US" sz="1050"/>
              <a:t>This PPT</a:t>
            </a:r>
            <a:r>
              <a:rPr lang="en-US" sz="1050" baseline="0"/>
              <a:t> template was created to assist in the creation of engineering feature TOIs. The audience is primarily VERITAS Technical Support, however other consumers include pre-sales System Engineers, consultants, and VERITAS Education and Enablement Services (VEES).</a:t>
            </a:r>
            <a:endParaRPr lang="en-US" sz="1050"/>
          </a:p>
        </p:txBody>
      </p:sp>
      <p:sp>
        <p:nvSpPr>
          <p:cNvPr id="4" name="Slide Number Placeholder 3"/>
          <p:cNvSpPr>
            <a:spLocks noGrp="1"/>
          </p:cNvSpPr>
          <p:nvPr>
            <p:ph type="sldNum" sz="quarter" idx="10"/>
          </p:nvPr>
        </p:nvSpPr>
        <p:spPr/>
        <p:txBody>
          <a:bodyPr/>
          <a:lstStyle/>
          <a:p>
            <a:pPr>
              <a:defRPr/>
            </a:pPr>
            <a:fld id="{CEA96130-80FE-450A-9D6E-2375B464A403}" type="slidenum">
              <a:rPr lang="en-US" smtClean="0"/>
              <a:pPr>
                <a:defRPr/>
              </a:pPr>
              <a:t>1</a:t>
            </a:fld>
            <a:endParaRPr lang="en-US"/>
          </a:p>
        </p:txBody>
      </p:sp>
    </p:spTree>
    <p:extLst>
      <p:ext uri="{BB962C8B-B14F-4D97-AF65-F5344CB8AC3E}">
        <p14:creationId xmlns:p14="http://schemas.microsoft.com/office/powerpoint/2010/main" val="35418880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6994" y="758952"/>
            <a:ext cx="10055781" cy="3566160"/>
          </a:xfrm>
        </p:spPr>
        <p:txBody>
          <a:bodyPr anchor="b">
            <a:normAutofit/>
          </a:bodyPr>
          <a:lstStyle>
            <a:lvl1pPr algn="l">
              <a:lnSpc>
                <a:spcPct val="85000"/>
              </a:lnSpc>
              <a:defRPr sz="7998"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099764" y="4455620"/>
            <a:ext cx="10055781" cy="1143000"/>
          </a:xfrm>
        </p:spPr>
        <p:txBody>
          <a:bodyPr lIns="91440" rIns="91440">
            <a:normAutofit/>
          </a:bodyPr>
          <a:lstStyle>
            <a:lvl1pPr marL="0" indent="0" algn="l">
              <a:buNone/>
              <a:defRPr sz="2399" cap="all" spc="200" baseline="0">
                <a:solidFill>
                  <a:schemeClr val="tx2"/>
                </a:solidFill>
                <a:latin typeface="+mj-lt"/>
              </a:defRPr>
            </a:lvl1pPr>
            <a:lvl2pPr marL="457063" indent="0" algn="ctr">
              <a:buNone/>
              <a:defRPr sz="2399"/>
            </a:lvl2pPr>
            <a:lvl3pPr marL="914126" indent="0" algn="ctr">
              <a:buNone/>
              <a:defRPr sz="2399"/>
            </a:lvl3pPr>
            <a:lvl4pPr marL="1371189" indent="0" algn="ctr">
              <a:buNone/>
              <a:defRPr sz="1999"/>
            </a:lvl4pPr>
            <a:lvl5pPr marL="1828251" indent="0" algn="ctr">
              <a:buNone/>
              <a:defRPr sz="1999"/>
            </a:lvl5pPr>
            <a:lvl6pPr marL="2285314" indent="0" algn="ctr">
              <a:buNone/>
              <a:defRPr sz="1999"/>
            </a:lvl6pPr>
            <a:lvl7pPr marL="2742377" indent="0" algn="ctr">
              <a:buNone/>
              <a:defRPr sz="1999"/>
            </a:lvl7pPr>
            <a:lvl8pPr marL="3199440" indent="0" algn="ctr">
              <a:buNone/>
              <a:defRPr sz="1999"/>
            </a:lvl8pPr>
            <a:lvl9pPr marL="3656503" indent="0" algn="ctr">
              <a:buNone/>
              <a:defRPr sz="199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4A0648-6033-42C5-A338-7B282E6AB9B3}"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5C8259-F4A8-46F3-8ACE-A858A4394505}" type="slidenum">
              <a:rPr lang="en-IN" smtClean="0"/>
              <a:t>‹#›</a:t>
            </a:fld>
            <a:endParaRPr lang="en-IN"/>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0" y="0"/>
            <a:ext cx="10849849" cy="6858000"/>
            <a:chOff x="1215514" y="0"/>
            <a:chExt cx="10849849" cy="6858000"/>
          </a:xfrm>
        </p:grpSpPr>
        <p:pic>
          <p:nvPicPr>
            <p:cNvPr id="11" name="Picture 10" descr="red-RGB-hor-lores.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215514" y="0"/>
              <a:ext cx="3554436" cy="6858000"/>
            </a:xfrm>
            <a:prstGeom prst="rect">
              <a:avLst/>
            </a:prstGeom>
          </p:spPr>
        </p:pic>
        <p:cxnSp>
          <p:nvCxnSpPr>
            <p:cNvPr id="12" name="Straight Connector 11"/>
            <p:cNvCxnSpPr/>
            <p:nvPr userDrawn="1"/>
          </p:nvCxnSpPr>
          <p:spPr bwMode="auto">
            <a:xfrm>
              <a:off x="4727229" y="3574878"/>
              <a:ext cx="7338134" cy="0"/>
            </a:xfrm>
            <a:prstGeom prst="line">
              <a:avLst/>
            </a:prstGeom>
            <a:solidFill>
              <a:schemeClr val="accent1"/>
            </a:solidFill>
            <a:ln w="12700" cap="flat" cmpd="sng" algn="ctr">
              <a:solidFill>
                <a:srgbClr val="B1181E"/>
              </a:solidFill>
              <a:prstDash val="solid"/>
              <a:miter lim="800000"/>
              <a:headEnd type="none" w="med" len="med"/>
              <a:tailEnd type="none" w="lg" len="lg"/>
            </a:ln>
            <a:effectLst/>
          </p:spPr>
        </p:cxnSp>
      </p:grpSp>
    </p:spTree>
    <p:extLst>
      <p:ext uri="{BB962C8B-B14F-4D97-AF65-F5344CB8AC3E}">
        <p14:creationId xmlns:p14="http://schemas.microsoft.com/office/powerpoint/2010/main" val="1106813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latin typeface="Corbel"/>
              </a:rPr>
              <a:t>Copyright © 2019 Veritas Technologies LLC</a:t>
            </a:r>
          </a:p>
        </p:txBody>
      </p:sp>
      <p:sp>
        <p:nvSpPr>
          <p:cNvPr id="6" name="Slide Number Placeholder 5"/>
          <p:cNvSpPr>
            <a:spLocks noGrp="1"/>
          </p:cNvSpPr>
          <p:nvPr>
            <p:ph type="sldNum" sz="quarter" idx="12"/>
          </p:nvPr>
        </p:nvSpPr>
        <p:spPr/>
        <p:txBody>
          <a:bodyPr/>
          <a:lstStyle/>
          <a:p>
            <a:pPr algn="l"/>
            <a:fld id="{C1960183-D323-4677-9D78-78D1D39B0029}" type="slidenum">
              <a:rPr lang="uk-UA" smtClean="0"/>
              <a:pPr algn="l"/>
              <a:t>‹#›</a:t>
            </a:fld>
            <a:endParaRPr lang="uk-UA"/>
          </a:p>
        </p:txBody>
      </p:sp>
    </p:spTree>
    <p:extLst>
      <p:ext uri="{BB962C8B-B14F-4D97-AF65-F5344CB8AC3E}">
        <p14:creationId xmlns:p14="http://schemas.microsoft.com/office/powerpoint/2010/main" val="85546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4" y="758952"/>
            <a:ext cx="10055781" cy="3566160"/>
          </a:xfrm>
        </p:spPr>
        <p:txBody>
          <a:bodyPr anchor="b" anchorCtr="0">
            <a:normAutofit/>
          </a:bodyPr>
          <a:lstStyle>
            <a:lvl1pPr>
              <a:lnSpc>
                <a:spcPct val="85000"/>
              </a:lnSpc>
              <a:defRPr sz="7998"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6994" y="4453128"/>
            <a:ext cx="10055781" cy="1143000"/>
          </a:xfrm>
        </p:spPr>
        <p:txBody>
          <a:bodyPr lIns="91440" rIns="91440" anchor="t" anchorCtr="0">
            <a:normAutofit/>
          </a:bodyPr>
          <a:lstStyle>
            <a:lvl1pPr marL="0" indent="0">
              <a:buNone/>
              <a:defRPr sz="2399" cap="all" spc="200" baseline="0">
                <a:solidFill>
                  <a:schemeClr val="tx2"/>
                </a:solidFill>
                <a:latin typeface="+mj-lt"/>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latin typeface="Corbel"/>
              </a:rPr>
              <a:t>Copyright © 2019 Veritas Technologies LLC</a:t>
            </a:r>
          </a:p>
        </p:txBody>
      </p:sp>
      <p:sp>
        <p:nvSpPr>
          <p:cNvPr id="6" name="Slide Number Placeholder 5"/>
          <p:cNvSpPr>
            <a:spLocks noGrp="1"/>
          </p:cNvSpPr>
          <p:nvPr>
            <p:ph type="sldNum" sz="quarter" idx="12"/>
          </p:nvPr>
        </p:nvSpPr>
        <p:spPr/>
        <p:txBody>
          <a:bodyPr/>
          <a:lstStyle/>
          <a:p>
            <a:pPr algn="l"/>
            <a:fld id="{C1960183-D323-4677-9D78-78D1D39B0029}" type="slidenum">
              <a:rPr lang="uk-UA" smtClean="0"/>
              <a:pPr algn="l"/>
              <a:t>‹#›</a:t>
            </a:fld>
            <a:endParaRPr lang="uk-UA"/>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547177"/>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6994" y="286604"/>
            <a:ext cx="10055781"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6993" y="1845734"/>
            <a:ext cx="4936474"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6301" y="1845735"/>
            <a:ext cx="4936474"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latin typeface="Corbel"/>
              </a:rPr>
              <a:t>Copyright © 2019 Veritas Technologies LLC</a:t>
            </a:r>
          </a:p>
        </p:txBody>
      </p:sp>
      <p:sp>
        <p:nvSpPr>
          <p:cNvPr id="7" name="Slide Number Placeholder 6"/>
          <p:cNvSpPr>
            <a:spLocks noGrp="1"/>
          </p:cNvSpPr>
          <p:nvPr>
            <p:ph type="sldNum" sz="quarter" idx="12"/>
          </p:nvPr>
        </p:nvSpPr>
        <p:spPr/>
        <p:txBody>
          <a:bodyPr/>
          <a:lstStyle/>
          <a:p>
            <a:pPr algn="l"/>
            <a:fld id="{C1960183-D323-4677-9D78-78D1D39B0029}" type="slidenum">
              <a:rPr lang="uk-UA" smtClean="0"/>
              <a:pPr algn="l"/>
              <a:t>‹#›</a:t>
            </a:fld>
            <a:endParaRPr lang="uk-UA"/>
          </a:p>
        </p:txBody>
      </p:sp>
    </p:spTree>
    <p:extLst>
      <p:ext uri="{BB962C8B-B14F-4D97-AF65-F5344CB8AC3E}">
        <p14:creationId xmlns:p14="http://schemas.microsoft.com/office/powerpoint/2010/main" val="46318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6994" y="286604"/>
            <a:ext cx="10055781"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6994"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4" name="Content Placeholder 3"/>
          <p:cNvSpPr>
            <a:spLocks noGrp="1"/>
          </p:cNvSpPr>
          <p:nvPr>
            <p:ph sz="half" idx="2"/>
          </p:nvPr>
        </p:nvSpPr>
        <p:spPr>
          <a:xfrm>
            <a:off x="1096994" y="2582334"/>
            <a:ext cx="4936474"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6301"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Edit Master text styles</a:t>
            </a:r>
          </a:p>
        </p:txBody>
      </p:sp>
      <p:sp>
        <p:nvSpPr>
          <p:cNvPr id="6" name="Content Placeholder 5"/>
          <p:cNvSpPr>
            <a:spLocks noGrp="1"/>
          </p:cNvSpPr>
          <p:nvPr>
            <p:ph sz="quarter" idx="4"/>
          </p:nvPr>
        </p:nvSpPr>
        <p:spPr>
          <a:xfrm>
            <a:off x="6216301" y="2582334"/>
            <a:ext cx="4936474"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latin typeface="Corbel"/>
              </a:rPr>
              <a:t>Copyright © 2019 Veritas Technologies LLC</a:t>
            </a:r>
          </a:p>
        </p:txBody>
      </p:sp>
      <p:sp>
        <p:nvSpPr>
          <p:cNvPr id="9" name="Slide Number Placeholder 8"/>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907116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latin typeface="Corbel"/>
              </a:rPr>
              <a:t>Copyright © 2019 Veritas Technologies LLC</a:t>
            </a:r>
          </a:p>
        </p:txBody>
      </p:sp>
      <p:sp>
        <p:nvSpPr>
          <p:cNvPr id="5" name="Slide Number Placeholder 4"/>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1923670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latin typeface="Corbel"/>
              </a:rPr>
              <a:t>Copyright © 2019 Veritas Technologies LLC</a:t>
            </a:r>
          </a:p>
        </p:txBody>
      </p:sp>
      <p:sp>
        <p:nvSpPr>
          <p:cNvPr id="9" name="Slide Number Placeholder 8"/>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2481360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40497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39019" y="0"/>
            <a:ext cx="6399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081" y="594359"/>
            <a:ext cx="3199567" cy="2286000"/>
          </a:xfrm>
        </p:spPr>
        <p:txBody>
          <a:bodyPr anchor="b">
            <a:normAutofit/>
          </a:bodyPr>
          <a:lstStyle>
            <a:lvl1pPr>
              <a:defRPr sz="3599"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799350" y="731520"/>
            <a:ext cx="6490549"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081" y="2926080"/>
            <a:ext cx="3199567" cy="3379124"/>
          </a:xfrm>
        </p:spPr>
        <p:txBody>
          <a:bodyPr lIns="91440" rIns="91440">
            <a:normAutofit/>
          </a:bodyPr>
          <a:lstStyle>
            <a:lvl1pPr marL="0" indent="0">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Edit Master text styles</a:t>
            </a:r>
          </a:p>
        </p:txBody>
      </p:sp>
      <p:sp>
        <p:nvSpPr>
          <p:cNvPr id="5" name="Date Placeholder 4"/>
          <p:cNvSpPr>
            <a:spLocks noGrp="1"/>
          </p:cNvSpPr>
          <p:nvPr>
            <p:ph type="dt" sz="half" idx="10"/>
          </p:nvPr>
        </p:nvSpPr>
        <p:spPr>
          <a:xfrm>
            <a:off x="465391" y="6459786"/>
            <a:ext cx="2617828" cy="365125"/>
          </a:xfrm>
        </p:spPr>
        <p:txBody>
          <a:bodyPr/>
          <a:lstStyle>
            <a:lvl1pPr algn="l">
              <a:defRPr/>
            </a:lvl1pPr>
          </a:lstStyle>
          <a:p>
            <a:endParaRPr lang="en-US"/>
          </a:p>
        </p:txBody>
      </p:sp>
      <p:sp>
        <p:nvSpPr>
          <p:cNvPr id="6" name="Footer Placeholder 5"/>
          <p:cNvSpPr>
            <a:spLocks noGrp="1"/>
          </p:cNvSpPr>
          <p:nvPr>
            <p:ph type="ftr" sz="quarter" idx="11"/>
          </p:nvPr>
        </p:nvSpPr>
        <p:spPr>
          <a:xfrm>
            <a:off x="4799350" y="6459786"/>
            <a:ext cx="4646990" cy="365125"/>
          </a:xfrm>
        </p:spPr>
        <p:txBody>
          <a:bodyPr/>
          <a:lstStyle>
            <a:lvl1pPr algn="l">
              <a:defRPr>
                <a:solidFill>
                  <a:schemeClr val="tx2"/>
                </a:solidFill>
              </a:defRPr>
            </a:lvl1pPr>
          </a:lstStyle>
          <a:p>
            <a:r>
              <a:rPr lang="en-US">
                <a:latin typeface="Corbel"/>
              </a:rPr>
              <a:t>Copyright © 2019 Veritas Technologies LLC</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2806979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5651"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4" y="5074920"/>
            <a:ext cx="10110630" cy="822960"/>
          </a:xfrm>
        </p:spPr>
        <p:txBody>
          <a:bodyPr lIns="91440" tIns="0" rIns="91440" bIns="0" anchor="b">
            <a:noAutofit/>
          </a:bodyPr>
          <a:lstStyle>
            <a:lvl1pPr>
              <a:defRPr sz="3599"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88810" cy="4915076"/>
          </a:xfrm>
          <a:blipFill>
            <a:blip r:embed="rId2"/>
            <a:stretch>
              <a:fillRect/>
            </a:stretch>
          </a:blipFill>
        </p:spPr>
        <p:txBody>
          <a:bodyPr lIns="457200" tIns="457200" anchor="t"/>
          <a:lstStyle>
            <a:lvl1pPr marL="0" indent="0">
              <a:buNone/>
              <a:defRPr sz="3199">
                <a:solidFill>
                  <a:schemeClr val="bg1"/>
                </a:solidFill>
              </a:defRPr>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1096994" y="5907023"/>
            <a:ext cx="1011063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latin typeface="Corbel"/>
              </a:rPr>
              <a:t>Copyright © 2019 Veritas Technologies LLC</a:t>
            </a:r>
          </a:p>
        </p:txBody>
      </p:sp>
      <p:sp>
        <p:nvSpPr>
          <p:cNvPr id="7" name="Slide Number Placeholder 6"/>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425199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latin typeface="Corbel"/>
              </a:rPr>
              <a:t>Copyright © 2019 Veritas Technologies LLC</a:t>
            </a:r>
          </a:p>
        </p:txBody>
      </p:sp>
      <p:sp>
        <p:nvSpPr>
          <p:cNvPr id="6" name="Slide Number Placeholder 5"/>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345685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2628" y="414779"/>
            <a:ext cx="262821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414778"/>
            <a:ext cx="7732286"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latin typeface="Corbel"/>
              </a:rPr>
              <a:t>Copyright © 2019 Veritas Technologies LLC</a:t>
            </a:r>
          </a:p>
        </p:txBody>
      </p:sp>
      <p:sp>
        <p:nvSpPr>
          <p:cNvPr id="6" name="Slide Number Placeholder 5"/>
          <p:cNvSpPr>
            <a:spLocks noGrp="1"/>
          </p:cNvSpPr>
          <p:nvPr>
            <p:ph type="sldNum" sz="quarter" idx="12"/>
          </p:nvPr>
        </p:nvSpPr>
        <p:spPr/>
        <p:txBody>
          <a:bodyPr/>
          <a:lstStyle/>
          <a:p>
            <a:pPr algn="l"/>
            <a:fld id="{C1960183-D323-4677-9D78-78D1D39B0029}" type="slidenum">
              <a:rPr lang="en-US" smtClean="0"/>
              <a:pPr algn="l"/>
              <a:t>‹#›</a:t>
            </a:fld>
            <a:endParaRPr lang="en-US"/>
          </a:p>
        </p:txBody>
      </p:sp>
    </p:spTree>
    <p:extLst>
      <p:ext uri="{BB962C8B-B14F-4D97-AF65-F5344CB8AC3E}">
        <p14:creationId xmlns:p14="http://schemas.microsoft.com/office/powerpoint/2010/main" val="74845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with sub title, Name and title">
    <p:spTree>
      <p:nvGrpSpPr>
        <p:cNvPr id="1" name=""/>
        <p:cNvGrpSpPr/>
        <p:nvPr/>
      </p:nvGrpSpPr>
      <p:grpSpPr>
        <a:xfrm>
          <a:off x="0" y="0"/>
          <a:ext cx="0" cy="0"/>
          <a:chOff x="0" y="0"/>
          <a:chExt cx="0" cy="0"/>
        </a:xfrm>
      </p:grpSpPr>
      <p:grpSp>
        <p:nvGrpSpPr>
          <p:cNvPr id="44" name="Group 43"/>
          <p:cNvGrpSpPr/>
          <p:nvPr userDrawn="1"/>
        </p:nvGrpSpPr>
        <p:grpSpPr>
          <a:xfrm>
            <a:off x="0" y="0"/>
            <a:ext cx="10849849" cy="6858000"/>
            <a:chOff x="1215514" y="0"/>
            <a:chExt cx="10849849" cy="6858000"/>
          </a:xfrm>
        </p:grpSpPr>
        <p:pic>
          <p:nvPicPr>
            <p:cNvPr id="45" name="Picture 44" descr="red-RGB-hor-lores.jpg"/>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215514" y="0"/>
              <a:ext cx="3554436" cy="6858000"/>
            </a:xfrm>
            <a:prstGeom prst="rect">
              <a:avLst/>
            </a:prstGeom>
          </p:spPr>
        </p:pic>
        <p:cxnSp>
          <p:nvCxnSpPr>
            <p:cNvPr id="46" name="Straight Connector 45"/>
            <p:cNvCxnSpPr/>
            <p:nvPr userDrawn="1"/>
          </p:nvCxnSpPr>
          <p:spPr bwMode="auto">
            <a:xfrm>
              <a:off x="4727229" y="3574878"/>
              <a:ext cx="7338134" cy="0"/>
            </a:xfrm>
            <a:prstGeom prst="line">
              <a:avLst/>
            </a:prstGeom>
            <a:solidFill>
              <a:schemeClr val="accent1"/>
            </a:solidFill>
            <a:ln w="19050" cap="flat" cmpd="sng" algn="ctr">
              <a:solidFill>
                <a:srgbClr val="B1181E"/>
              </a:solidFill>
              <a:prstDash val="solid"/>
              <a:miter lim="800000"/>
              <a:headEnd type="none" w="med" len="med"/>
              <a:tailEnd type="none" w="lg" len="lg"/>
            </a:ln>
            <a:effectLst/>
          </p:spPr>
        </p:cxnSp>
      </p:grpSp>
      <p:grpSp>
        <p:nvGrpSpPr>
          <p:cNvPr id="18" name="Group 17"/>
          <p:cNvGrpSpPr/>
          <p:nvPr/>
        </p:nvGrpSpPr>
        <p:grpSpPr>
          <a:xfrm>
            <a:off x="8683991" y="5458199"/>
            <a:ext cx="2165858" cy="816226"/>
            <a:chOff x="8683991" y="5119535"/>
            <a:chExt cx="2165858" cy="816226"/>
          </a:xfrm>
        </p:grpSpPr>
        <p:grpSp>
          <p:nvGrpSpPr>
            <p:cNvPr id="31" name="Group 30"/>
            <p:cNvGrpSpPr/>
            <p:nvPr userDrawn="1"/>
          </p:nvGrpSpPr>
          <p:grpSpPr>
            <a:xfrm>
              <a:off x="8683991" y="5119535"/>
              <a:ext cx="2165858" cy="428625"/>
              <a:chOff x="1219977" y="923925"/>
              <a:chExt cx="2165858" cy="428625"/>
            </a:xfrm>
          </p:grpSpPr>
          <p:sp>
            <p:nvSpPr>
              <p:cNvPr id="33" name="Freeform 5"/>
              <p:cNvSpPr>
                <a:spLocks/>
              </p:cNvSpPr>
              <p:nvPr/>
            </p:nvSpPr>
            <p:spPr bwMode="auto">
              <a:xfrm>
                <a:off x="1931697" y="952348"/>
                <a:ext cx="333690" cy="400202"/>
              </a:xfrm>
              <a:custGeom>
                <a:avLst/>
                <a:gdLst>
                  <a:gd name="T0" fmla="*/ 43 w 248"/>
                  <a:gd name="T1" fmla="*/ 65 h 295"/>
                  <a:gd name="T2" fmla="*/ 64 w 248"/>
                  <a:gd name="T3" fmla="*/ 44 h 295"/>
                  <a:gd name="T4" fmla="*/ 158 w 248"/>
                  <a:gd name="T5" fmla="*/ 44 h 295"/>
                  <a:gd name="T6" fmla="*/ 192 w 248"/>
                  <a:gd name="T7" fmla="*/ 67 h 295"/>
                  <a:gd name="T8" fmla="*/ 171 w 248"/>
                  <a:gd name="T9" fmla="*/ 113 h 295"/>
                  <a:gd name="T10" fmla="*/ 98 w 248"/>
                  <a:gd name="T11" fmla="*/ 140 h 295"/>
                  <a:gd name="T12" fmla="*/ 67 w 248"/>
                  <a:gd name="T13" fmla="*/ 204 h 295"/>
                  <a:gd name="T14" fmla="*/ 94 w 248"/>
                  <a:gd name="T15" fmla="*/ 234 h 295"/>
                  <a:gd name="T16" fmla="*/ 230 w 248"/>
                  <a:gd name="T17" fmla="*/ 295 h 295"/>
                  <a:gd name="T18" fmla="*/ 230 w 248"/>
                  <a:gd name="T19" fmla="*/ 248 h 295"/>
                  <a:gd name="T20" fmla="*/ 111 w 248"/>
                  <a:gd name="T21" fmla="*/ 195 h 295"/>
                  <a:gd name="T22" fmla="*/ 107 w 248"/>
                  <a:gd name="T23" fmla="*/ 190 h 295"/>
                  <a:gd name="T24" fmla="*/ 112 w 248"/>
                  <a:gd name="T25" fmla="*/ 179 h 295"/>
                  <a:gd name="T26" fmla="*/ 186 w 248"/>
                  <a:gd name="T27" fmla="*/ 154 h 295"/>
                  <a:gd name="T28" fmla="*/ 232 w 248"/>
                  <a:gd name="T29" fmla="*/ 51 h 295"/>
                  <a:gd name="T30" fmla="*/ 158 w 248"/>
                  <a:gd name="T31" fmla="*/ 0 h 295"/>
                  <a:gd name="T32" fmla="*/ 64 w 248"/>
                  <a:gd name="T33" fmla="*/ 0 h 295"/>
                  <a:gd name="T34" fmla="*/ 0 w 248"/>
                  <a:gd name="T35" fmla="*/ 65 h 295"/>
                  <a:gd name="T36" fmla="*/ 0 w 248"/>
                  <a:gd name="T37" fmla="*/ 288 h 295"/>
                  <a:gd name="T38" fmla="*/ 43 w 248"/>
                  <a:gd name="T39" fmla="*/ 288 h 295"/>
                  <a:gd name="T40" fmla="*/ 43 w 248"/>
                  <a:gd name="T41" fmla="*/ 65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8" h="295">
                    <a:moveTo>
                      <a:pt x="43" y="65"/>
                    </a:moveTo>
                    <a:cubicBezTo>
                      <a:pt x="43" y="53"/>
                      <a:pt x="52" y="44"/>
                      <a:pt x="64" y="44"/>
                    </a:cubicBezTo>
                    <a:cubicBezTo>
                      <a:pt x="158" y="44"/>
                      <a:pt x="158" y="44"/>
                      <a:pt x="158" y="44"/>
                    </a:cubicBezTo>
                    <a:cubicBezTo>
                      <a:pt x="172" y="44"/>
                      <a:pt x="186" y="52"/>
                      <a:pt x="192" y="67"/>
                    </a:cubicBezTo>
                    <a:cubicBezTo>
                      <a:pt x="199" y="85"/>
                      <a:pt x="189" y="106"/>
                      <a:pt x="171" y="113"/>
                    </a:cubicBezTo>
                    <a:cubicBezTo>
                      <a:pt x="98" y="140"/>
                      <a:pt x="98" y="140"/>
                      <a:pt x="98" y="140"/>
                    </a:cubicBezTo>
                    <a:cubicBezTo>
                      <a:pt x="72" y="149"/>
                      <a:pt x="58" y="178"/>
                      <a:pt x="67" y="204"/>
                    </a:cubicBezTo>
                    <a:cubicBezTo>
                      <a:pt x="72" y="218"/>
                      <a:pt x="82" y="228"/>
                      <a:pt x="94" y="234"/>
                    </a:cubicBezTo>
                    <a:cubicBezTo>
                      <a:pt x="230" y="295"/>
                      <a:pt x="230" y="295"/>
                      <a:pt x="230" y="295"/>
                    </a:cubicBezTo>
                    <a:cubicBezTo>
                      <a:pt x="230" y="248"/>
                      <a:pt x="230" y="248"/>
                      <a:pt x="230" y="248"/>
                    </a:cubicBezTo>
                    <a:cubicBezTo>
                      <a:pt x="111" y="195"/>
                      <a:pt x="111" y="195"/>
                      <a:pt x="111" y="195"/>
                    </a:cubicBezTo>
                    <a:cubicBezTo>
                      <a:pt x="109" y="195"/>
                      <a:pt x="107" y="193"/>
                      <a:pt x="107" y="190"/>
                    </a:cubicBezTo>
                    <a:cubicBezTo>
                      <a:pt x="105" y="186"/>
                      <a:pt x="107" y="181"/>
                      <a:pt x="112" y="179"/>
                    </a:cubicBezTo>
                    <a:cubicBezTo>
                      <a:pt x="186" y="154"/>
                      <a:pt x="186" y="154"/>
                      <a:pt x="186" y="154"/>
                    </a:cubicBezTo>
                    <a:cubicBezTo>
                      <a:pt x="227" y="138"/>
                      <a:pt x="248" y="92"/>
                      <a:pt x="232" y="51"/>
                    </a:cubicBezTo>
                    <a:cubicBezTo>
                      <a:pt x="220" y="20"/>
                      <a:pt x="190" y="0"/>
                      <a:pt x="158" y="0"/>
                    </a:cubicBezTo>
                    <a:cubicBezTo>
                      <a:pt x="64" y="0"/>
                      <a:pt x="64" y="0"/>
                      <a:pt x="64" y="0"/>
                    </a:cubicBezTo>
                    <a:cubicBezTo>
                      <a:pt x="29" y="0"/>
                      <a:pt x="0" y="29"/>
                      <a:pt x="0" y="65"/>
                    </a:cubicBezTo>
                    <a:cubicBezTo>
                      <a:pt x="0" y="288"/>
                      <a:pt x="0" y="288"/>
                      <a:pt x="0" y="288"/>
                    </a:cubicBezTo>
                    <a:cubicBezTo>
                      <a:pt x="43" y="288"/>
                      <a:pt x="43" y="288"/>
                      <a:pt x="43" y="288"/>
                    </a:cubicBezTo>
                    <a:lnTo>
                      <a:pt x="43" y="65"/>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4" name="Rectangle 6"/>
              <p:cNvSpPr>
                <a:spLocks noChangeArrowheads="1"/>
              </p:cNvSpPr>
              <p:nvPr/>
            </p:nvSpPr>
            <p:spPr bwMode="auto">
              <a:xfrm>
                <a:off x="2309728" y="952348"/>
                <a:ext cx="57415" cy="390538"/>
              </a:xfrm>
              <a:prstGeom prst="rect">
                <a:avLst/>
              </a:pr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5" name="Freeform 7"/>
              <p:cNvSpPr>
                <a:spLocks/>
              </p:cNvSpPr>
              <p:nvPr/>
            </p:nvSpPr>
            <p:spPr bwMode="auto">
              <a:xfrm>
                <a:off x="1219977" y="952348"/>
                <a:ext cx="348470" cy="390538"/>
              </a:xfrm>
              <a:custGeom>
                <a:avLst/>
                <a:gdLst>
                  <a:gd name="T0" fmla="*/ 214 w 259"/>
                  <a:gd name="T1" fmla="*/ 0 h 288"/>
                  <a:gd name="T2" fmla="*/ 137 w 259"/>
                  <a:gd name="T3" fmla="*/ 240 h 288"/>
                  <a:gd name="T4" fmla="*/ 130 w 259"/>
                  <a:gd name="T5" fmla="*/ 245 h 288"/>
                  <a:gd name="T6" fmla="*/ 123 w 259"/>
                  <a:gd name="T7" fmla="*/ 240 h 288"/>
                  <a:gd name="T8" fmla="*/ 45 w 259"/>
                  <a:gd name="T9" fmla="*/ 0 h 288"/>
                  <a:gd name="T10" fmla="*/ 0 w 259"/>
                  <a:gd name="T11" fmla="*/ 0 h 288"/>
                  <a:gd name="T12" fmla="*/ 82 w 259"/>
                  <a:gd name="T13" fmla="*/ 254 h 288"/>
                  <a:gd name="T14" fmla="*/ 130 w 259"/>
                  <a:gd name="T15" fmla="*/ 288 h 288"/>
                  <a:gd name="T16" fmla="*/ 178 w 259"/>
                  <a:gd name="T17" fmla="*/ 254 h 288"/>
                  <a:gd name="T18" fmla="*/ 259 w 259"/>
                  <a:gd name="T19" fmla="*/ 0 h 288"/>
                  <a:gd name="T20" fmla="*/ 214 w 259"/>
                  <a:gd name="T2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9" h="288">
                    <a:moveTo>
                      <a:pt x="214" y="0"/>
                    </a:moveTo>
                    <a:cubicBezTo>
                      <a:pt x="137" y="240"/>
                      <a:pt x="137" y="240"/>
                      <a:pt x="137" y="240"/>
                    </a:cubicBezTo>
                    <a:cubicBezTo>
                      <a:pt x="136" y="243"/>
                      <a:pt x="133" y="245"/>
                      <a:pt x="130" y="245"/>
                    </a:cubicBezTo>
                    <a:cubicBezTo>
                      <a:pt x="127" y="245"/>
                      <a:pt x="124" y="243"/>
                      <a:pt x="123" y="240"/>
                    </a:cubicBezTo>
                    <a:cubicBezTo>
                      <a:pt x="45" y="0"/>
                      <a:pt x="45" y="0"/>
                      <a:pt x="45" y="0"/>
                    </a:cubicBezTo>
                    <a:cubicBezTo>
                      <a:pt x="0" y="0"/>
                      <a:pt x="0" y="0"/>
                      <a:pt x="0" y="0"/>
                    </a:cubicBezTo>
                    <a:cubicBezTo>
                      <a:pt x="82" y="254"/>
                      <a:pt x="82" y="254"/>
                      <a:pt x="82" y="254"/>
                    </a:cubicBezTo>
                    <a:cubicBezTo>
                      <a:pt x="89" y="275"/>
                      <a:pt x="108" y="288"/>
                      <a:pt x="130" y="288"/>
                    </a:cubicBezTo>
                    <a:cubicBezTo>
                      <a:pt x="151" y="288"/>
                      <a:pt x="171" y="275"/>
                      <a:pt x="178" y="254"/>
                    </a:cubicBezTo>
                    <a:cubicBezTo>
                      <a:pt x="259" y="0"/>
                      <a:pt x="259" y="0"/>
                      <a:pt x="259" y="0"/>
                    </a:cubicBezTo>
                    <a:lnTo>
                      <a:pt x="214" y="0"/>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6" name="Freeform 8"/>
              <p:cNvSpPr>
                <a:spLocks/>
              </p:cNvSpPr>
              <p:nvPr/>
            </p:nvSpPr>
            <p:spPr bwMode="auto">
              <a:xfrm>
                <a:off x="2655355" y="952348"/>
                <a:ext cx="348470" cy="390538"/>
              </a:xfrm>
              <a:custGeom>
                <a:avLst/>
                <a:gdLst>
                  <a:gd name="T0" fmla="*/ 46 w 259"/>
                  <a:gd name="T1" fmla="*/ 288 h 288"/>
                  <a:gd name="T2" fmla="*/ 123 w 259"/>
                  <a:gd name="T3" fmla="*/ 49 h 288"/>
                  <a:gd name="T4" fmla="*/ 130 w 259"/>
                  <a:gd name="T5" fmla="*/ 44 h 288"/>
                  <a:gd name="T6" fmla="*/ 137 w 259"/>
                  <a:gd name="T7" fmla="*/ 49 h 288"/>
                  <a:gd name="T8" fmla="*/ 214 w 259"/>
                  <a:gd name="T9" fmla="*/ 288 h 288"/>
                  <a:gd name="T10" fmla="*/ 259 w 259"/>
                  <a:gd name="T11" fmla="*/ 288 h 288"/>
                  <a:gd name="T12" fmla="*/ 178 w 259"/>
                  <a:gd name="T13" fmla="*/ 35 h 288"/>
                  <a:gd name="T14" fmla="*/ 130 w 259"/>
                  <a:gd name="T15" fmla="*/ 0 h 288"/>
                  <a:gd name="T16" fmla="*/ 82 w 259"/>
                  <a:gd name="T17" fmla="*/ 35 h 288"/>
                  <a:gd name="T18" fmla="*/ 0 w 259"/>
                  <a:gd name="T19" fmla="*/ 288 h 288"/>
                  <a:gd name="T20" fmla="*/ 46 w 259"/>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9" h="288">
                    <a:moveTo>
                      <a:pt x="46" y="288"/>
                    </a:moveTo>
                    <a:cubicBezTo>
                      <a:pt x="123" y="49"/>
                      <a:pt x="123" y="49"/>
                      <a:pt x="123" y="49"/>
                    </a:cubicBezTo>
                    <a:cubicBezTo>
                      <a:pt x="124" y="46"/>
                      <a:pt x="127" y="44"/>
                      <a:pt x="130" y="44"/>
                    </a:cubicBezTo>
                    <a:cubicBezTo>
                      <a:pt x="133" y="44"/>
                      <a:pt x="136" y="45"/>
                      <a:pt x="137" y="49"/>
                    </a:cubicBezTo>
                    <a:cubicBezTo>
                      <a:pt x="214" y="288"/>
                      <a:pt x="214" y="288"/>
                      <a:pt x="214" y="288"/>
                    </a:cubicBezTo>
                    <a:cubicBezTo>
                      <a:pt x="259" y="288"/>
                      <a:pt x="259" y="288"/>
                      <a:pt x="259" y="288"/>
                    </a:cubicBezTo>
                    <a:cubicBezTo>
                      <a:pt x="178" y="35"/>
                      <a:pt x="178" y="35"/>
                      <a:pt x="178" y="35"/>
                    </a:cubicBezTo>
                    <a:cubicBezTo>
                      <a:pt x="171" y="14"/>
                      <a:pt x="151" y="0"/>
                      <a:pt x="130" y="0"/>
                    </a:cubicBezTo>
                    <a:cubicBezTo>
                      <a:pt x="108" y="0"/>
                      <a:pt x="89" y="14"/>
                      <a:pt x="82" y="35"/>
                    </a:cubicBezTo>
                    <a:cubicBezTo>
                      <a:pt x="0" y="288"/>
                      <a:pt x="0" y="288"/>
                      <a:pt x="0" y="288"/>
                    </a:cubicBezTo>
                    <a:lnTo>
                      <a:pt x="46" y="288"/>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7" name="Freeform 9"/>
              <p:cNvSpPr>
                <a:spLocks/>
              </p:cNvSpPr>
              <p:nvPr/>
            </p:nvSpPr>
            <p:spPr bwMode="auto">
              <a:xfrm>
                <a:off x="1591186" y="952348"/>
                <a:ext cx="279686" cy="390538"/>
              </a:xfrm>
              <a:custGeom>
                <a:avLst/>
                <a:gdLst>
                  <a:gd name="T0" fmla="*/ 72 w 208"/>
                  <a:gd name="T1" fmla="*/ 44 h 288"/>
                  <a:gd name="T2" fmla="*/ 208 w 208"/>
                  <a:gd name="T3" fmla="*/ 44 h 288"/>
                  <a:gd name="T4" fmla="*/ 208 w 208"/>
                  <a:gd name="T5" fmla="*/ 0 h 288"/>
                  <a:gd name="T6" fmla="*/ 72 w 208"/>
                  <a:gd name="T7" fmla="*/ 0 h 288"/>
                  <a:gd name="T8" fmla="*/ 0 w 208"/>
                  <a:gd name="T9" fmla="*/ 72 h 288"/>
                  <a:gd name="T10" fmla="*/ 0 w 208"/>
                  <a:gd name="T11" fmla="*/ 216 h 288"/>
                  <a:gd name="T12" fmla="*/ 72 w 208"/>
                  <a:gd name="T13" fmla="*/ 288 h 288"/>
                  <a:gd name="T14" fmla="*/ 208 w 208"/>
                  <a:gd name="T15" fmla="*/ 288 h 288"/>
                  <a:gd name="T16" fmla="*/ 208 w 208"/>
                  <a:gd name="T17" fmla="*/ 245 h 288"/>
                  <a:gd name="T18" fmla="*/ 72 w 208"/>
                  <a:gd name="T19" fmla="*/ 245 h 288"/>
                  <a:gd name="T20" fmla="*/ 43 w 208"/>
                  <a:gd name="T21" fmla="*/ 216 h 288"/>
                  <a:gd name="T22" fmla="*/ 43 w 208"/>
                  <a:gd name="T23" fmla="*/ 166 h 288"/>
                  <a:gd name="T24" fmla="*/ 180 w 208"/>
                  <a:gd name="T25" fmla="*/ 166 h 288"/>
                  <a:gd name="T26" fmla="*/ 180 w 208"/>
                  <a:gd name="T27" fmla="*/ 123 h 288"/>
                  <a:gd name="T28" fmla="*/ 43 w 208"/>
                  <a:gd name="T29" fmla="*/ 123 h 288"/>
                  <a:gd name="T30" fmla="*/ 43 w 208"/>
                  <a:gd name="T31" fmla="*/ 72 h 288"/>
                  <a:gd name="T32" fmla="*/ 72 w 208"/>
                  <a:gd name="T33" fmla="*/ 4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288">
                    <a:moveTo>
                      <a:pt x="72" y="44"/>
                    </a:moveTo>
                    <a:cubicBezTo>
                      <a:pt x="208" y="44"/>
                      <a:pt x="208" y="44"/>
                      <a:pt x="208" y="44"/>
                    </a:cubicBezTo>
                    <a:cubicBezTo>
                      <a:pt x="208" y="0"/>
                      <a:pt x="208" y="0"/>
                      <a:pt x="208" y="0"/>
                    </a:cubicBezTo>
                    <a:cubicBezTo>
                      <a:pt x="72" y="0"/>
                      <a:pt x="72" y="0"/>
                      <a:pt x="72" y="0"/>
                    </a:cubicBezTo>
                    <a:cubicBezTo>
                      <a:pt x="32" y="0"/>
                      <a:pt x="0" y="33"/>
                      <a:pt x="0" y="72"/>
                    </a:cubicBezTo>
                    <a:cubicBezTo>
                      <a:pt x="0" y="216"/>
                      <a:pt x="0" y="216"/>
                      <a:pt x="0" y="216"/>
                    </a:cubicBezTo>
                    <a:cubicBezTo>
                      <a:pt x="0" y="256"/>
                      <a:pt x="32" y="288"/>
                      <a:pt x="72" y="288"/>
                    </a:cubicBezTo>
                    <a:cubicBezTo>
                      <a:pt x="208" y="288"/>
                      <a:pt x="208" y="288"/>
                      <a:pt x="208" y="288"/>
                    </a:cubicBezTo>
                    <a:cubicBezTo>
                      <a:pt x="208" y="245"/>
                      <a:pt x="208" y="245"/>
                      <a:pt x="208" y="245"/>
                    </a:cubicBezTo>
                    <a:cubicBezTo>
                      <a:pt x="72" y="245"/>
                      <a:pt x="72" y="245"/>
                      <a:pt x="72" y="245"/>
                    </a:cubicBezTo>
                    <a:cubicBezTo>
                      <a:pt x="56" y="245"/>
                      <a:pt x="43" y="232"/>
                      <a:pt x="43" y="216"/>
                    </a:cubicBezTo>
                    <a:cubicBezTo>
                      <a:pt x="43" y="166"/>
                      <a:pt x="43" y="166"/>
                      <a:pt x="43" y="166"/>
                    </a:cubicBezTo>
                    <a:cubicBezTo>
                      <a:pt x="180" y="166"/>
                      <a:pt x="180" y="166"/>
                      <a:pt x="180" y="166"/>
                    </a:cubicBezTo>
                    <a:cubicBezTo>
                      <a:pt x="180" y="123"/>
                      <a:pt x="180" y="123"/>
                      <a:pt x="180" y="123"/>
                    </a:cubicBezTo>
                    <a:cubicBezTo>
                      <a:pt x="43" y="123"/>
                      <a:pt x="43" y="123"/>
                      <a:pt x="43" y="123"/>
                    </a:cubicBezTo>
                    <a:cubicBezTo>
                      <a:pt x="43" y="72"/>
                      <a:pt x="43" y="72"/>
                      <a:pt x="43" y="72"/>
                    </a:cubicBezTo>
                    <a:cubicBezTo>
                      <a:pt x="43" y="56"/>
                      <a:pt x="56" y="44"/>
                      <a:pt x="72" y="44"/>
                    </a:cubicBez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8" name="Freeform 10"/>
              <p:cNvSpPr>
                <a:spLocks/>
              </p:cNvSpPr>
              <p:nvPr/>
            </p:nvSpPr>
            <p:spPr bwMode="auto">
              <a:xfrm>
                <a:off x="2416031" y="952348"/>
                <a:ext cx="282528" cy="390538"/>
              </a:xfrm>
              <a:custGeom>
                <a:avLst/>
                <a:gdLst>
                  <a:gd name="T0" fmla="*/ 497 w 497"/>
                  <a:gd name="T1" fmla="*/ 0 h 687"/>
                  <a:gd name="T2" fmla="*/ 0 w 497"/>
                  <a:gd name="T3" fmla="*/ 0 h 687"/>
                  <a:gd name="T4" fmla="*/ 0 w 497"/>
                  <a:gd name="T5" fmla="*/ 105 h 687"/>
                  <a:gd name="T6" fmla="*/ 198 w 497"/>
                  <a:gd name="T7" fmla="*/ 105 h 687"/>
                  <a:gd name="T8" fmla="*/ 198 w 497"/>
                  <a:gd name="T9" fmla="*/ 687 h 687"/>
                  <a:gd name="T10" fmla="*/ 300 w 497"/>
                  <a:gd name="T11" fmla="*/ 687 h 687"/>
                  <a:gd name="T12" fmla="*/ 300 w 497"/>
                  <a:gd name="T13" fmla="*/ 105 h 687"/>
                  <a:gd name="T14" fmla="*/ 497 w 497"/>
                  <a:gd name="T15" fmla="*/ 105 h 687"/>
                  <a:gd name="T16" fmla="*/ 497 w 497"/>
                  <a:gd name="T17" fmla="*/ 0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7" h="687">
                    <a:moveTo>
                      <a:pt x="497" y="0"/>
                    </a:moveTo>
                    <a:lnTo>
                      <a:pt x="0" y="0"/>
                    </a:lnTo>
                    <a:lnTo>
                      <a:pt x="0" y="105"/>
                    </a:lnTo>
                    <a:lnTo>
                      <a:pt x="198" y="105"/>
                    </a:lnTo>
                    <a:lnTo>
                      <a:pt x="198" y="687"/>
                    </a:lnTo>
                    <a:lnTo>
                      <a:pt x="300" y="687"/>
                    </a:lnTo>
                    <a:lnTo>
                      <a:pt x="300" y="105"/>
                    </a:lnTo>
                    <a:lnTo>
                      <a:pt x="497" y="105"/>
                    </a:lnTo>
                    <a:lnTo>
                      <a:pt x="497" y="0"/>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39" name="Freeform 11"/>
              <p:cNvSpPr>
                <a:spLocks/>
              </p:cNvSpPr>
              <p:nvPr/>
            </p:nvSpPr>
            <p:spPr bwMode="auto">
              <a:xfrm>
                <a:off x="3011784" y="952348"/>
                <a:ext cx="320047" cy="390538"/>
              </a:xfrm>
              <a:custGeom>
                <a:avLst/>
                <a:gdLst>
                  <a:gd name="T0" fmla="*/ 155 w 238"/>
                  <a:gd name="T1" fmla="*/ 288 h 288"/>
                  <a:gd name="T2" fmla="*/ 238 w 238"/>
                  <a:gd name="T3" fmla="*/ 206 h 288"/>
                  <a:gd name="T4" fmla="*/ 155 w 238"/>
                  <a:gd name="T5" fmla="*/ 123 h 288"/>
                  <a:gd name="T6" fmla="*/ 83 w 238"/>
                  <a:gd name="T7" fmla="*/ 123 h 288"/>
                  <a:gd name="T8" fmla="*/ 43 w 238"/>
                  <a:gd name="T9" fmla="*/ 83 h 288"/>
                  <a:gd name="T10" fmla="*/ 83 w 238"/>
                  <a:gd name="T11" fmla="*/ 44 h 288"/>
                  <a:gd name="T12" fmla="*/ 223 w 238"/>
                  <a:gd name="T13" fmla="*/ 44 h 288"/>
                  <a:gd name="T14" fmla="*/ 223 w 238"/>
                  <a:gd name="T15" fmla="*/ 0 h 288"/>
                  <a:gd name="T16" fmla="*/ 83 w 238"/>
                  <a:gd name="T17" fmla="*/ 0 h 288"/>
                  <a:gd name="T18" fmla="*/ 0 w 238"/>
                  <a:gd name="T19" fmla="*/ 83 h 288"/>
                  <a:gd name="T20" fmla="*/ 83 w 238"/>
                  <a:gd name="T21" fmla="*/ 166 h 288"/>
                  <a:gd name="T22" fmla="*/ 155 w 238"/>
                  <a:gd name="T23" fmla="*/ 166 h 288"/>
                  <a:gd name="T24" fmla="*/ 194 w 238"/>
                  <a:gd name="T25" fmla="*/ 206 h 288"/>
                  <a:gd name="T26" fmla="*/ 155 w 238"/>
                  <a:gd name="T27" fmla="*/ 245 h 288"/>
                  <a:gd name="T28" fmla="*/ 14 w 238"/>
                  <a:gd name="T29" fmla="*/ 245 h 288"/>
                  <a:gd name="T30" fmla="*/ 14 w 238"/>
                  <a:gd name="T31" fmla="*/ 288 h 288"/>
                  <a:gd name="T32" fmla="*/ 155 w 238"/>
                  <a:gd name="T3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8" h="288">
                    <a:moveTo>
                      <a:pt x="155" y="288"/>
                    </a:moveTo>
                    <a:cubicBezTo>
                      <a:pt x="201" y="288"/>
                      <a:pt x="238" y="251"/>
                      <a:pt x="238" y="206"/>
                    </a:cubicBezTo>
                    <a:cubicBezTo>
                      <a:pt x="238" y="160"/>
                      <a:pt x="201" y="123"/>
                      <a:pt x="155" y="123"/>
                    </a:cubicBezTo>
                    <a:cubicBezTo>
                      <a:pt x="83" y="123"/>
                      <a:pt x="83" y="123"/>
                      <a:pt x="83" y="123"/>
                    </a:cubicBezTo>
                    <a:cubicBezTo>
                      <a:pt x="61" y="123"/>
                      <a:pt x="43" y="105"/>
                      <a:pt x="43" y="83"/>
                    </a:cubicBezTo>
                    <a:cubicBezTo>
                      <a:pt x="43" y="61"/>
                      <a:pt x="61" y="44"/>
                      <a:pt x="83" y="44"/>
                    </a:cubicBezTo>
                    <a:cubicBezTo>
                      <a:pt x="223" y="44"/>
                      <a:pt x="223" y="44"/>
                      <a:pt x="223" y="44"/>
                    </a:cubicBezTo>
                    <a:cubicBezTo>
                      <a:pt x="223" y="0"/>
                      <a:pt x="223" y="0"/>
                      <a:pt x="223" y="0"/>
                    </a:cubicBezTo>
                    <a:cubicBezTo>
                      <a:pt x="83" y="0"/>
                      <a:pt x="83" y="0"/>
                      <a:pt x="83" y="0"/>
                    </a:cubicBezTo>
                    <a:cubicBezTo>
                      <a:pt x="37" y="0"/>
                      <a:pt x="0" y="37"/>
                      <a:pt x="0" y="83"/>
                    </a:cubicBezTo>
                    <a:cubicBezTo>
                      <a:pt x="0" y="129"/>
                      <a:pt x="37" y="166"/>
                      <a:pt x="83" y="166"/>
                    </a:cubicBezTo>
                    <a:cubicBezTo>
                      <a:pt x="155" y="166"/>
                      <a:pt x="155" y="166"/>
                      <a:pt x="155" y="166"/>
                    </a:cubicBezTo>
                    <a:cubicBezTo>
                      <a:pt x="177" y="166"/>
                      <a:pt x="194" y="184"/>
                      <a:pt x="194" y="206"/>
                    </a:cubicBezTo>
                    <a:cubicBezTo>
                      <a:pt x="194" y="227"/>
                      <a:pt x="177" y="245"/>
                      <a:pt x="155" y="245"/>
                    </a:cubicBezTo>
                    <a:cubicBezTo>
                      <a:pt x="14" y="245"/>
                      <a:pt x="14" y="245"/>
                      <a:pt x="14" y="245"/>
                    </a:cubicBezTo>
                    <a:cubicBezTo>
                      <a:pt x="14" y="288"/>
                      <a:pt x="14" y="288"/>
                      <a:pt x="14" y="288"/>
                    </a:cubicBezTo>
                    <a:lnTo>
                      <a:pt x="155" y="288"/>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sp>
            <p:nvSpPr>
              <p:cNvPr id="40" name="Freeform 12"/>
              <p:cNvSpPr>
                <a:spLocks noEditPoints="1"/>
              </p:cNvSpPr>
              <p:nvPr/>
            </p:nvSpPr>
            <p:spPr bwMode="auto">
              <a:xfrm>
                <a:off x="3331830" y="923925"/>
                <a:ext cx="54005" cy="28423"/>
              </a:xfrm>
              <a:custGeom>
                <a:avLst/>
                <a:gdLst>
                  <a:gd name="T0" fmla="*/ 24 w 95"/>
                  <a:gd name="T1" fmla="*/ 50 h 50"/>
                  <a:gd name="T2" fmla="*/ 14 w 95"/>
                  <a:gd name="T3" fmla="*/ 50 h 50"/>
                  <a:gd name="T4" fmla="*/ 14 w 95"/>
                  <a:gd name="T5" fmla="*/ 9 h 50"/>
                  <a:gd name="T6" fmla="*/ 0 w 95"/>
                  <a:gd name="T7" fmla="*/ 9 h 50"/>
                  <a:gd name="T8" fmla="*/ 0 w 95"/>
                  <a:gd name="T9" fmla="*/ 0 h 50"/>
                  <a:gd name="T10" fmla="*/ 38 w 95"/>
                  <a:gd name="T11" fmla="*/ 0 h 50"/>
                  <a:gd name="T12" fmla="*/ 38 w 95"/>
                  <a:gd name="T13" fmla="*/ 9 h 50"/>
                  <a:gd name="T14" fmla="*/ 24 w 95"/>
                  <a:gd name="T15" fmla="*/ 9 h 50"/>
                  <a:gd name="T16" fmla="*/ 24 w 95"/>
                  <a:gd name="T17" fmla="*/ 50 h 50"/>
                  <a:gd name="T18" fmla="*/ 69 w 95"/>
                  <a:gd name="T19" fmla="*/ 38 h 50"/>
                  <a:gd name="T20" fmla="*/ 73 w 95"/>
                  <a:gd name="T21" fmla="*/ 28 h 50"/>
                  <a:gd name="T22" fmla="*/ 85 w 95"/>
                  <a:gd name="T23" fmla="*/ 0 h 50"/>
                  <a:gd name="T24" fmla="*/ 95 w 95"/>
                  <a:gd name="T25" fmla="*/ 0 h 50"/>
                  <a:gd name="T26" fmla="*/ 95 w 95"/>
                  <a:gd name="T27" fmla="*/ 50 h 50"/>
                  <a:gd name="T28" fmla="*/ 85 w 95"/>
                  <a:gd name="T29" fmla="*/ 50 h 50"/>
                  <a:gd name="T30" fmla="*/ 85 w 95"/>
                  <a:gd name="T31" fmla="*/ 26 h 50"/>
                  <a:gd name="T32" fmla="*/ 85 w 95"/>
                  <a:gd name="T33" fmla="*/ 16 h 50"/>
                  <a:gd name="T34" fmla="*/ 83 w 95"/>
                  <a:gd name="T35" fmla="*/ 23 h 50"/>
                  <a:gd name="T36" fmla="*/ 73 w 95"/>
                  <a:gd name="T37" fmla="*/ 50 h 50"/>
                  <a:gd name="T38" fmla="*/ 66 w 95"/>
                  <a:gd name="T39" fmla="*/ 50 h 50"/>
                  <a:gd name="T40" fmla="*/ 57 w 95"/>
                  <a:gd name="T41" fmla="*/ 23 h 50"/>
                  <a:gd name="T42" fmla="*/ 54 w 95"/>
                  <a:gd name="T43" fmla="*/ 16 h 50"/>
                  <a:gd name="T44" fmla="*/ 54 w 95"/>
                  <a:gd name="T45" fmla="*/ 26 h 50"/>
                  <a:gd name="T46" fmla="*/ 54 w 95"/>
                  <a:gd name="T47" fmla="*/ 50 h 50"/>
                  <a:gd name="T48" fmla="*/ 45 w 95"/>
                  <a:gd name="T49" fmla="*/ 50 h 50"/>
                  <a:gd name="T50" fmla="*/ 45 w 95"/>
                  <a:gd name="T51" fmla="*/ 0 h 50"/>
                  <a:gd name="T52" fmla="*/ 54 w 95"/>
                  <a:gd name="T53" fmla="*/ 0 h 50"/>
                  <a:gd name="T54" fmla="*/ 66 w 95"/>
                  <a:gd name="T55" fmla="*/ 28 h 50"/>
                  <a:gd name="T56" fmla="*/ 69 w 95"/>
                  <a:gd name="T57"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5" h="50">
                    <a:moveTo>
                      <a:pt x="24" y="50"/>
                    </a:moveTo>
                    <a:lnTo>
                      <a:pt x="14" y="50"/>
                    </a:lnTo>
                    <a:lnTo>
                      <a:pt x="14" y="9"/>
                    </a:lnTo>
                    <a:lnTo>
                      <a:pt x="0" y="9"/>
                    </a:lnTo>
                    <a:lnTo>
                      <a:pt x="0" y="0"/>
                    </a:lnTo>
                    <a:lnTo>
                      <a:pt x="38" y="0"/>
                    </a:lnTo>
                    <a:lnTo>
                      <a:pt x="38" y="9"/>
                    </a:lnTo>
                    <a:lnTo>
                      <a:pt x="24" y="9"/>
                    </a:lnTo>
                    <a:lnTo>
                      <a:pt x="24" y="50"/>
                    </a:lnTo>
                    <a:close/>
                    <a:moveTo>
                      <a:pt x="69" y="38"/>
                    </a:moveTo>
                    <a:lnTo>
                      <a:pt x="73" y="28"/>
                    </a:lnTo>
                    <a:lnTo>
                      <a:pt x="85" y="0"/>
                    </a:lnTo>
                    <a:lnTo>
                      <a:pt x="95" y="0"/>
                    </a:lnTo>
                    <a:lnTo>
                      <a:pt x="95" y="50"/>
                    </a:lnTo>
                    <a:lnTo>
                      <a:pt x="85" y="50"/>
                    </a:lnTo>
                    <a:lnTo>
                      <a:pt x="85" y="26"/>
                    </a:lnTo>
                    <a:lnTo>
                      <a:pt x="85" y="16"/>
                    </a:lnTo>
                    <a:lnTo>
                      <a:pt x="83" y="23"/>
                    </a:lnTo>
                    <a:lnTo>
                      <a:pt x="73" y="50"/>
                    </a:lnTo>
                    <a:lnTo>
                      <a:pt x="66" y="50"/>
                    </a:lnTo>
                    <a:lnTo>
                      <a:pt x="57" y="23"/>
                    </a:lnTo>
                    <a:lnTo>
                      <a:pt x="54" y="16"/>
                    </a:lnTo>
                    <a:lnTo>
                      <a:pt x="54" y="26"/>
                    </a:lnTo>
                    <a:lnTo>
                      <a:pt x="54" y="50"/>
                    </a:lnTo>
                    <a:lnTo>
                      <a:pt x="45" y="50"/>
                    </a:lnTo>
                    <a:lnTo>
                      <a:pt x="45" y="0"/>
                    </a:lnTo>
                    <a:lnTo>
                      <a:pt x="54" y="0"/>
                    </a:lnTo>
                    <a:lnTo>
                      <a:pt x="66" y="28"/>
                    </a:lnTo>
                    <a:lnTo>
                      <a:pt x="69" y="38"/>
                    </a:lnTo>
                    <a:close/>
                  </a:path>
                </a:pathLst>
              </a:custGeom>
              <a:solidFill>
                <a:srgbClr val="B1181E"/>
              </a:solidFill>
              <a:ln>
                <a:noFill/>
              </a:ln>
            </p:spPr>
            <p:txBody>
              <a:bodyPr vert="horz" wrap="square" lIns="91440" tIns="45720" rIns="91440" bIns="45720" numCol="1" anchor="t" anchorCtr="0" compatLnSpc="1">
                <a:prstTxWarp prst="textNoShape">
                  <a:avLst/>
                </a:prstTxWarp>
              </a:bodyPr>
              <a:lstStyle/>
              <a:p>
                <a:endParaRPr>
                  <a:latin typeface="Corbel"/>
                </a:endParaRPr>
              </a:p>
            </p:txBody>
          </p:sp>
        </p:grpSp>
        <p:pic>
          <p:nvPicPr>
            <p:cNvPr id="32" name="Picture 31" descr="Veritas_TII_tagline.eps"/>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683991" y="5692494"/>
              <a:ext cx="2165858" cy="243267"/>
            </a:xfrm>
            <a:prstGeom prst="rect">
              <a:avLst/>
            </a:prstGeom>
          </p:spPr>
        </p:pic>
      </p:grpSp>
      <p:sp>
        <p:nvSpPr>
          <p:cNvPr id="5" name="Text Placeholder 4"/>
          <p:cNvSpPr>
            <a:spLocks noGrp="1"/>
          </p:cNvSpPr>
          <p:nvPr>
            <p:ph type="body" sz="quarter" idx="10" hasCustomPrompt="1"/>
          </p:nvPr>
        </p:nvSpPr>
        <p:spPr>
          <a:xfrm>
            <a:off x="5866648" y="4849613"/>
            <a:ext cx="4983201" cy="301925"/>
          </a:xfrm>
        </p:spPr>
        <p:txBody>
          <a:bodyPr>
            <a:noAutofit/>
          </a:bodyPr>
          <a:lstStyle>
            <a:lvl1pPr marL="0" indent="0" algn="r">
              <a:spcBef>
                <a:spcPts val="0"/>
              </a:spcBef>
              <a:buNone/>
              <a:defRPr sz="2000">
                <a:solidFill>
                  <a:srgbClr val="838B8F"/>
                </a:solidFill>
              </a:defRPr>
            </a:lvl1pPr>
            <a:lvl2pPr marL="0" indent="0">
              <a:spcBef>
                <a:spcPts val="0"/>
              </a:spcBef>
              <a:buNone/>
              <a:defRPr sz="2000"/>
            </a:lvl2pPr>
            <a:lvl3pPr marL="0" indent="0">
              <a:spcBef>
                <a:spcPts val="0"/>
              </a:spcBef>
              <a:buNone/>
              <a:defRPr sz="2000"/>
            </a:lvl3pPr>
            <a:lvl4pPr marL="0" indent="0">
              <a:spcBef>
                <a:spcPts val="0"/>
              </a:spcBef>
              <a:buNone/>
              <a:defRPr sz="2000"/>
            </a:lvl4pPr>
            <a:lvl5pPr marL="0" indent="0">
              <a:spcBef>
                <a:spcPts val="0"/>
              </a:spcBef>
              <a:buNone/>
              <a:defRPr sz="2000"/>
            </a:lvl5pPr>
            <a:lvl6pPr marL="0" indent="0">
              <a:spcBef>
                <a:spcPts val="0"/>
              </a:spcBef>
              <a:buNone/>
              <a:defRPr sz="2000"/>
            </a:lvl6pPr>
            <a:lvl7pPr marL="0" indent="0">
              <a:spcBef>
                <a:spcPts val="0"/>
              </a:spcBef>
              <a:buNone/>
              <a:defRPr sz="2000"/>
            </a:lvl7pPr>
            <a:lvl8pPr marL="0" indent="0">
              <a:spcBef>
                <a:spcPts val="0"/>
              </a:spcBef>
              <a:buNone/>
              <a:defRPr sz="2000"/>
            </a:lvl8pPr>
            <a:lvl9pPr marL="0" indent="0">
              <a:spcBef>
                <a:spcPts val="0"/>
              </a:spcBef>
              <a:buNone/>
              <a:defRPr sz="2000"/>
            </a:lvl9pPr>
          </a:lstStyle>
          <a:p>
            <a:r>
              <a:t>Click to add presenter’s title</a:t>
            </a:r>
          </a:p>
        </p:txBody>
      </p:sp>
      <p:sp>
        <p:nvSpPr>
          <p:cNvPr id="29" name="Title 1"/>
          <p:cNvSpPr>
            <a:spLocks noGrp="1"/>
          </p:cNvSpPr>
          <p:nvPr>
            <p:ph type="ctrTitle"/>
          </p:nvPr>
        </p:nvSpPr>
        <p:spPr>
          <a:xfrm>
            <a:off x="4598524" y="1929024"/>
            <a:ext cx="6251325" cy="1393825"/>
          </a:xfrm>
        </p:spPr>
        <p:txBody>
          <a:bodyPr>
            <a:noAutofit/>
          </a:bodyPr>
          <a:lstStyle>
            <a:lvl1pPr algn="r">
              <a:defRPr sz="3200"/>
            </a:lvl1pPr>
          </a:lstStyle>
          <a:p>
            <a:r>
              <a:rPr lang="en-US"/>
              <a:t>Click to edit Master title style</a:t>
            </a:r>
            <a:endParaRPr/>
          </a:p>
        </p:txBody>
      </p:sp>
      <p:sp>
        <p:nvSpPr>
          <p:cNvPr id="30" name="Subtitle 2"/>
          <p:cNvSpPr>
            <a:spLocks noGrp="1"/>
          </p:cNvSpPr>
          <p:nvPr>
            <p:ph type="subTitle" idx="1" hasCustomPrompt="1"/>
          </p:nvPr>
        </p:nvSpPr>
        <p:spPr>
          <a:xfrm>
            <a:off x="5866648" y="4392232"/>
            <a:ext cx="4983201" cy="381000"/>
          </a:xfrm>
        </p:spPr>
        <p:txBody>
          <a:bodyPr>
            <a:noAutofit/>
          </a:bodyPr>
          <a:lstStyle>
            <a:lvl1pPr marL="0" indent="0" algn="r">
              <a:spcBef>
                <a:spcPts val="0"/>
              </a:spcBef>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presenter’s name</a:t>
            </a:r>
          </a:p>
        </p:txBody>
      </p:sp>
      <p:sp>
        <p:nvSpPr>
          <p:cNvPr id="3" name="Text Placeholder 2"/>
          <p:cNvSpPr>
            <a:spLocks noGrp="1"/>
          </p:cNvSpPr>
          <p:nvPr>
            <p:ph type="body" sz="quarter" idx="11" hasCustomPrompt="1"/>
          </p:nvPr>
        </p:nvSpPr>
        <p:spPr>
          <a:xfrm>
            <a:off x="4598524" y="3737298"/>
            <a:ext cx="6252039" cy="487362"/>
          </a:xfrm>
        </p:spPr>
        <p:txBody>
          <a:bodyPr/>
          <a:lstStyle>
            <a:lvl1pPr marL="0" indent="0" algn="r">
              <a:buNone/>
              <a:defRPr/>
            </a:lvl1pPr>
          </a:lstStyle>
          <a:p>
            <a:pPr lvl="0"/>
            <a:r>
              <a:rPr lang="en-US"/>
              <a:t>Click to edit subhead</a:t>
            </a:r>
          </a:p>
        </p:txBody>
      </p:sp>
    </p:spTree>
    <p:extLst>
      <p:ext uri="{BB962C8B-B14F-4D97-AF65-F5344CB8AC3E}">
        <p14:creationId xmlns:p14="http://schemas.microsoft.com/office/powerpoint/2010/main" val="118175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88826"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94" y="286604"/>
            <a:ext cx="10055781"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6994" y="1845734"/>
            <a:ext cx="1005578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6995" y="6459786"/>
            <a:ext cx="2471627"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5225" y="6459786"/>
            <a:ext cx="482154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latin typeface="Corbel"/>
              </a:rPr>
              <a:t>Copyright © 2019 Veritas Technologies LLC</a:t>
            </a:r>
          </a:p>
        </p:txBody>
      </p:sp>
      <p:sp>
        <p:nvSpPr>
          <p:cNvPr id="6" name="Slide Number Placeholder 5"/>
          <p:cNvSpPr>
            <a:spLocks noGrp="1"/>
          </p:cNvSpPr>
          <p:nvPr>
            <p:ph type="sldNum" sz="quarter" idx="4"/>
          </p:nvPr>
        </p:nvSpPr>
        <p:spPr>
          <a:xfrm>
            <a:off x="9897880" y="6459786"/>
            <a:ext cx="1311683" cy="365125"/>
          </a:xfrm>
          <a:prstGeom prst="rect">
            <a:avLst/>
          </a:prstGeom>
        </p:spPr>
        <p:txBody>
          <a:bodyPr vert="horz" lIns="91440" tIns="45720" rIns="91440" bIns="45720" rtlCol="0" anchor="ctr"/>
          <a:lstStyle>
            <a:lvl1pPr algn="r">
              <a:defRPr sz="1050">
                <a:solidFill>
                  <a:srgbClr val="FFFFFF"/>
                </a:solidFill>
              </a:defRPr>
            </a:lvl1pPr>
          </a:lstStyle>
          <a:p>
            <a:pPr algn="l"/>
            <a:fld id="{C1960183-D323-4677-9D78-78D1D39B0029}" type="slidenum">
              <a:rPr lang="uk-UA" smtClean="0"/>
              <a:pPr algn="l"/>
              <a:t>‹#›</a:t>
            </a:fld>
            <a:endParaRPr lang="uk-UA"/>
          </a:p>
        </p:txBody>
      </p:sp>
      <p:cxnSp>
        <p:nvCxnSpPr>
          <p:cNvPr id="10" name="Straight Connector 9"/>
          <p:cNvCxnSpPr/>
          <p:nvPr/>
        </p:nvCxnSpPr>
        <p:spPr>
          <a:xfrm>
            <a:off x="1193221" y="1737845"/>
            <a:ext cx="996436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20847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698"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126" rtl="0" eaLnBrk="1" latinLnBrk="0" hangingPunct="1">
        <a:lnSpc>
          <a:spcPct val="85000"/>
        </a:lnSpc>
        <a:spcBef>
          <a:spcPct val="0"/>
        </a:spcBef>
        <a:buNone/>
        <a:defRPr sz="4799" kern="1200" spc="-50" baseline="0">
          <a:solidFill>
            <a:schemeClr val="tx1">
              <a:lumMod val="75000"/>
              <a:lumOff val="25000"/>
            </a:schemeClr>
          </a:solidFill>
          <a:latin typeface="+mj-lt"/>
          <a:ea typeface="+mj-ea"/>
          <a:cs typeface="+mj-cs"/>
        </a:defRPr>
      </a:lvl1pPr>
    </p:titleStyle>
    <p:bodyStyle>
      <a:lvl1pPr marL="91413" indent="-91413" algn="l" defTabSz="914126"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999" kern="1200">
          <a:solidFill>
            <a:schemeClr val="tx1">
              <a:lumMod val="75000"/>
              <a:lumOff val="25000"/>
            </a:schemeClr>
          </a:solidFill>
          <a:latin typeface="+mn-lt"/>
          <a:ea typeface="+mn-ea"/>
          <a:cs typeface="+mn-cs"/>
        </a:defRPr>
      </a:lvl1pPr>
      <a:lvl2pPr marL="383933" indent="-182825" algn="l" defTabSz="914126" rtl="0" eaLnBrk="1" latinLnBrk="0" hangingPunct="1">
        <a:lnSpc>
          <a:spcPct val="90000"/>
        </a:lnSpc>
        <a:spcBef>
          <a:spcPts val="200"/>
        </a:spcBef>
        <a:spcAft>
          <a:spcPts val="400"/>
        </a:spcAft>
        <a:buClr>
          <a:schemeClr val="accent1"/>
        </a:buClr>
        <a:buFont typeface="Calibri" pitchFamily="34" charset="0"/>
        <a:buChar char="◦"/>
        <a:defRPr sz="1799" kern="1200">
          <a:solidFill>
            <a:schemeClr val="tx1">
              <a:lumMod val="75000"/>
              <a:lumOff val="25000"/>
            </a:schemeClr>
          </a:solidFill>
          <a:latin typeface="+mn-lt"/>
          <a:ea typeface="+mn-ea"/>
          <a:cs typeface="+mn-cs"/>
        </a:defRPr>
      </a:lvl2pPr>
      <a:lvl3pPr marL="56675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583"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40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67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61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55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49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DL-VTAS-CloudPoint-BRAVO@verita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wordsdoctorate.com/services/paper-writing-services/" TargetMode="External"/><Relationship Id="rId2" Type="http://schemas.openxmlformats.org/officeDocument/2006/relationships/hyperlink" Target="https://www.wordsdoctorate.com/services/paper-writing-services/research-paper-writing-service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latex-project.org/lppl/"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2"/>
          <p:cNvSpPr>
            <a:spLocks noGrp="1"/>
          </p:cNvSpPr>
          <p:nvPr>
            <p:ph type="ctrTitle"/>
          </p:nvPr>
        </p:nvSpPr>
        <p:spPr>
          <a:xfrm>
            <a:off x="434715" y="1278570"/>
            <a:ext cx="12713480" cy="1344709"/>
          </a:xfrm>
        </p:spPr>
        <p:txBody>
          <a:bodyPr/>
          <a:lstStyle/>
          <a:p>
            <a:pPr algn="ctr"/>
            <a:r>
              <a:rPr lang="en-US" sz="3600" b="1" dirty="0"/>
              <a:t>Research Methodology</a:t>
            </a:r>
            <a:br>
              <a:rPr lang="en-US" sz="3600" b="1" dirty="0"/>
            </a:br>
            <a:r>
              <a:rPr lang="en-US" sz="3600" b="1" dirty="0"/>
              <a:t>Module 4  </a:t>
            </a:r>
            <a:r>
              <a:rPr lang="en-IN" sz="3600" b="1" dirty="0"/>
              <a:t>Research Communication </a:t>
            </a:r>
            <a:endParaRPr lang="en-US" sz="3600" b="1" dirty="0"/>
          </a:p>
        </p:txBody>
      </p:sp>
      <p:sp>
        <p:nvSpPr>
          <p:cNvPr id="2" name="Slide Number Placeholder 1"/>
          <p:cNvSpPr>
            <a:spLocks noGrp="1"/>
          </p:cNvSpPr>
          <p:nvPr>
            <p:ph type="sldNum" sz="quarter" idx="12"/>
          </p:nvPr>
        </p:nvSpPr>
        <p:spPr>
          <a:xfrm>
            <a:off x="12034838" y="6508750"/>
            <a:ext cx="153987" cy="153988"/>
          </a:xfrm>
        </p:spPr>
        <p:txBody>
          <a:bodyPr/>
          <a:lstStyle/>
          <a:p>
            <a:pPr>
              <a:defRPr/>
            </a:pPr>
            <a:fld id="{46082381-925A-4C25-AB18-0C99AD89CFC0}" type="slidenum">
              <a:rPr lang="en-US" smtClean="0"/>
              <a:pPr>
                <a:defRPr/>
              </a:pPr>
              <a:t>1</a:t>
            </a:fld>
            <a:endParaRPr lang="en-US"/>
          </a:p>
        </p:txBody>
      </p:sp>
      <p:sp>
        <p:nvSpPr>
          <p:cNvPr id="4" name="TextBox 3">
            <a:extLst>
              <a:ext uri="{FF2B5EF4-FFF2-40B4-BE49-F238E27FC236}">
                <a16:creationId xmlns:a16="http://schemas.microsoft.com/office/drawing/2014/main" id="{39CE0EC0-7F08-FB42-B057-B0331852DF73}"/>
              </a:ext>
            </a:extLst>
          </p:cNvPr>
          <p:cNvSpPr txBox="1"/>
          <p:nvPr/>
        </p:nvSpPr>
        <p:spPr>
          <a:xfrm rot="13523872">
            <a:off x="8187559" y="4099034"/>
            <a:ext cx="0" cy="0"/>
          </a:xfrm>
          <a:prstGeom prst="rect">
            <a:avLst/>
          </a:prstGeom>
        </p:spPr>
        <p:txBody>
          <a:bodyPr vert="horz" wrap="none" lIns="0" tIns="0" rIns="0" bIns="0" rtlCol="0" anchor="b">
            <a:noAutofit/>
          </a:bodyPr>
          <a:lstStyle/>
          <a:p>
            <a:endParaRPr lang="en-US"/>
          </a:p>
        </p:txBody>
      </p:sp>
      <p:sp>
        <p:nvSpPr>
          <p:cNvPr id="6" name="TextBox 5">
            <a:extLst>
              <a:ext uri="{FF2B5EF4-FFF2-40B4-BE49-F238E27FC236}">
                <a16:creationId xmlns:a16="http://schemas.microsoft.com/office/drawing/2014/main" id="{2D150526-DE86-E24B-86F9-AFD72C2ABA15}"/>
              </a:ext>
            </a:extLst>
          </p:cNvPr>
          <p:cNvSpPr txBox="1"/>
          <p:nvPr/>
        </p:nvSpPr>
        <p:spPr>
          <a:xfrm>
            <a:off x="8020705" y="4067502"/>
            <a:ext cx="3449256" cy="420414"/>
          </a:xfrm>
          <a:prstGeom prst="rect">
            <a:avLst/>
          </a:prstGeom>
        </p:spPr>
        <p:txBody>
          <a:bodyPr vert="horz" wrap="square" lIns="0" tIns="0" rIns="0" bIns="0" rtlCol="0" anchor="b">
            <a:noAutofit/>
          </a:bodyPr>
          <a:lstStyle/>
          <a:p>
            <a:endParaRPr lang="en-US">
              <a:hlinkClick r:id="rId3"/>
            </a:endParaRPr>
          </a:p>
          <a:p>
            <a:endParaRPr lang="en-US">
              <a:hlinkClick r:id="rId3"/>
            </a:endParaRPr>
          </a:p>
          <a:p>
            <a:endParaRPr lang="en-US">
              <a:hlinkClick r:id="rId3"/>
            </a:endParaRPr>
          </a:p>
          <a:p>
            <a:endParaRPr lang="en-US">
              <a:hlinkClick r:id="rId3"/>
            </a:endParaRPr>
          </a:p>
          <a:p>
            <a:endParaRPr lang="en-US">
              <a:hlinkClick r:id="rId3"/>
            </a:endParaRPr>
          </a:p>
          <a:p>
            <a:endParaRPr lang="en-US">
              <a:hlinkClick r:id="rId3"/>
            </a:endParaRPr>
          </a:p>
          <a:p>
            <a:endParaRPr lang="en-US">
              <a:hlinkClick r:id="rId3"/>
            </a:endParaRPr>
          </a:p>
          <a:p>
            <a:endParaRPr lang="en-US">
              <a:hlinkClick r:id="rId3"/>
            </a:endParaRPr>
          </a:p>
          <a:p>
            <a:endParaRPr lang="en-US">
              <a:hlinkClick r:id="rId3"/>
            </a:endParaRPr>
          </a:p>
          <a:p>
            <a:endParaRPr lang="en-US"/>
          </a:p>
          <a:p>
            <a:endParaRPr lang="en-US"/>
          </a:p>
        </p:txBody>
      </p:sp>
    </p:spTree>
    <p:extLst>
      <p:ext uri="{BB962C8B-B14F-4D97-AF65-F5344CB8AC3E}">
        <p14:creationId xmlns:p14="http://schemas.microsoft.com/office/powerpoint/2010/main" val="911353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2</a:t>
            </a:fld>
            <a:endParaRPr lang="en-US"/>
          </a:p>
        </p:txBody>
      </p:sp>
      <p:sp>
        <p:nvSpPr>
          <p:cNvPr id="5" name="TextBox 4"/>
          <p:cNvSpPr txBox="1"/>
          <p:nvPr/>
        </p:nvSpPr>
        <p:spPr>
          <a:xfrm>
            <a:off x="224853" y="284813"/>
            <a:ext cx="10568065" cy="584775"/>
          </a:xfrm>
          <a:prstGeom prst="rect">
            <a:avLst/>
          </a:prstGeom>
          <a:noFill/>
        </p:spPr>
        <p:txBody>
          <a:bodyPr wrap="square" rtlCol="0">
            <a:spAutoFit/>
          </a:bodyPr>
          <a:lstStyle/>
          <a:p>
            <a:pPr algn="ctr"/>
            <a:r>
              <a:rPr lang="en-IN" sz="3200" dirty="0"/>
              <a:t>Writing a Conference Paper </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24655" y="808183"/>
            <a:ext cx="11287593" cy="1261884"/>
          </a:xfrm>
          <a:prstGeom prst="rect">
            <a:avLst/>
          </a:prstGeom>
          <a:noFill/>
        </p:spPr>
        <p:txBody>
          <a:bodyPr wrap="square" rtlCol="0">
            <a:spAutoFit/>
          </a:bodyPr>
          <a:lstStyle/>
          <a:p>
            <a:r>
              <a:rPr lang="en-US" dirty="0"/>
              <a:t>to understand that conference papers are meant to get presented in front of a highly knowledgeable audience. This audience is well aware of the subject, yet looks forward to gaining added information or an innovative idea to enhance the current subject. To write a conference paper there are some key principles that you need to</a:t>
            </a:r>
            <a:r>
              <a:rPr lang="en-US" sz="2000" dirty="0"/>
              <a:t>.</a:t>
            </a:r>
          </a:p>
          <a:p>
            <a:endParaRPr lang="en-US" sz="2000" dirty="0"/>
          </a:p>
        </p:txBody>
      </p:sp>
      <p:pic>
        <p:nvPicPr>
          <p:cNvPr id="1026" name="Picture 2" descr="Write a conference paper - Words Doctorate"/>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3544" y="1800245"/>
            <a:ext cx="10164910" cy="403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802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3</a:t>
            </a:fld>
            <a:endParaRPr lang="en-US"/>
          </a:p>
        </p:txBody>
      </p:sp>
      <p:sp>
        <p:nvSpPr>
          <p:cNvPr id="4" name="TextBox 3"/>
          <p:cNvSpPr txBox="1"/>
          <p:nvPr/>
        </p:nvSpPr>
        <p:spPr>
          <a:xfrm>
            <a:off x="1469036" y="460380"/>
            <a:ext cx="9563725" cy="584775"/>
          </a:xfrm>
          <a:prstGeom prst="rect">
            <a:avLst/>
          </a:prstGeom>
          <a:noFill/>
        </p:spPr>
        <p:txBody>
          <a:bodyPr wrap="square" rtlCol="0">
            <a:spAutoFit/>
          </a:bodyPr>
          <a:lstStyle/>
          <a:p>
            <a:r>
              <a:rPr lang="en-US" sz="3200" b="1" dirty="0"/>
              <a:t>To Write a Conference Paper with Innovation</a:t>
            </a:r>
          </a:p>
        </p:txBody>
      </p:sp>
      <p:sp>
        <p:nvSpPr>
          <p:cNvPr id="6" name="TextBox 5"/>
          <p:cNvSpPr txBox="1"/>
          <p:nvPr/>
        </p:nvSpPr>
        <p:spPr>
          <a:xfrm>
            <a:off x="674557" y="1045155"/>
            <a:ext cx="10223291" cy="3693319"/>
          </a:xfrm>
          <a:prstGeom prst="rect">
            <a:avLst/>
          </a:prstGeom>
          <a:noFill/>
        </p:spPr>
        <p:txBody>
          <a:bodyPr wrap="square" rtlCol="0">
            <a:spAutoFit/>
          </a:bodyPr>
          <a:lstStyle/>
          <a:p>
            <a:r>
              <a:rPr lang="en-US" dirty="0"/>
              <a:t>To write a conference you must understand the purpose, the discipline, and the format of the paper. Unlike any other </a:t>
            </a:r>
            <a:r>
              <a:rPr lang="en-US" b="1" dirty="0">
                <a:hlinkClick r:id="rId2"/>
              </a:rPr>
              <a:t>research paper</a:t>
            </a:r>
            <a:r>
              <a:rPr lang="en-US" dirty="0"/>
              <a:t>, a conference paper remains concise and absolute about the new idea or any innovative plan. You need to consider some brainstorming sessions for yourself to resolve a particular problem to build a new way of looking at a particular issue. While doing so, you must express your in-depth understanding and knowledge about the subject in a very precise manner. Moreover, it is also necessary that the audience that comprises your peers get the encouragement to evaluate </a:t>
            </a:r>
            <a:r>
              <a:rPr lang="en-US" b="1" dirty="0">
                <a:hlinkClick r:id="rId3"/>
              </a:rPr>
              <a:t>your paper</a:t>
            </a:r>
            <a:r>
              <a:rPr lang="en-US" dirty="0"/>
              <a:t>.</a:t>
            </a:r>
          </a:p>
          <a:p>
            <a:r>
              <a:rPr lang="en-US" dirty="0"/>
              <a:t>To gain an answer to how to write a conference paper?’ </a:t>
            </a:r>
          </a:p>
          <a:p>
            <a:r>
              <a:rPr lang="en-US" dirty="0"/>
              <a:t>always remain focused on enhancing your innovative research approach, and express the same by following the steps as noted below:</a:t>
            </a:r>
          </a:p>
          <a:p>
            <a:r>
              <a:rPr lang="en-US" dirty="0"/>
              <a:t>Deal with a Common Topic -&gt; Identify the Challenge/s -&gt; Undergo Voracious Readings -&gt; Brainstorm Yourself -&gt; Find Solution/s to the Identified Challenge/s</a:t>
            </a:r>
          </a:p>
          <a:p>
            <a:r>
              <a:rPr lang="en-US" dirty="0"/>
              <a:t>By means of offering a unique and effective solution to your conference paper, you can add great relevance to the subject and this is something that gets highly acknowledged by scholars.</a:t>
            </a:r>
          </a:p>
        </p:txBody>
      </p:sp>
    </p:spTree>
    <p:extLst>
      <p:ext uri="{BB962C8B-B14F-4D97-AF65-F5344CB8AC3E}">
        <p14:creationId xmlns:p14="http://schemas.microsoft.com/office/powerpoint/2010/main" val="161125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4</a:t>
            </a:fld>
            <a:endParaRPr lang="en-US"/>
          </a:p>
        </p:txBody>
      </p:sp>
      <p:sp>
        <p:nvSpPr>
          <p:cNvPr id="4" name="TextBox 3"/>
          <p:cNvSpPr txBox="1"/>
          <p:nvPr/>
        </p:nvSpPr>
        <p:spPr>
          <a:xfrm>
            <a:off x="1786326" y="69778"/>
            <a:ext cx="8619344" cy="584775"/>
          </a:xfrm>
          <a:prstGeom prst="rect">
            <a:avLst/>
          </a:prstGeom>
          <a:noFill/>
        </p:spPr>
        <p:txBody>
          <a:bodyPr wrap="square" rtlCol="0">
            <a:spAutoFit/>
          </a:bodyPr>
          <a:lstStyle/>
          <a:p>
            <a:r>
              <a:rPr lang="en-US" sz="3200" b="1"/>
              <a:t>Write a Conference Paper with Precision</a:t>
            </a:r>
          </a:p>
        </p:txBody>
      </p:sp>
      <p:sp>
        <p:nvSpPr>
          <p:cNvPr id="6" name="Rectangle 1"/>
          <p:cNvSpPr>
            <a:spLocks noChangeArrowheads="1"/>
          </p:cNvSpPr>
          <p:nvPr/>
        </p:nvSpPr>
        <p:spPr bwMode="auto">
          <a:xfrm>
            <a:off x="491217" y="841443"/>
            <a:ext cx="11209563"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424242"/>
                </a:solidFill>
                <a:effectLst/>
                <a:latin typeface="+mn-lt"/>
              </a:rPr>
              <a:t>For a conference paper always create a draft. Try to construct the information around it. Avoid all kinds of repetitions and unnecessary information. Do not ever include any word or sentence that is irrelevant to the topic.</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424242"/>
                </a:solidFill>
                <a:effectLst/>
                <a:latin typeface="+mn-lt"/>
              </a:rPr>
              <a:t>Your Introduction should be constructed as per the interest of the audience. There is no need for any reference to former research work. You are not supposed to elaborate on the ways you have attained the results. Just stay focused in explaining the Results that you have attained from your experiment. Conclude the conference paper with affirmations and possibilities for future research.</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424242"/>
                </a:solidFill>
                <a:effectLst/>
                <a:latin typeface="+mn-lt"/>
              </a:rPr>
              <a:t>Write a conference paper by addressing the following aspects in a very precise and comprehensive manner:</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424242"/>
                </a:solidFill>
                <a:effectLst/>
                <a:latin typeface="Open Sans"/>
              </a:rPr>
              <a:t>  </a:t>
            </a:r>
            <a:endParaRPr kumimoji="0" lang="en-US" altLang="en-US" sz="51400" b="0" i="0" u="none" strike="noStrike" cap="none" normalizeH="0" baseline="0" dirty="0">
              <a:ln>
                <a:noFill/>
              </a:ln>
              <a:solidFill>
                <a:srgbClr val="424242"/>
              </a:solidFill>
              <a:effectLst/>
              <a:latin typeface="Open Sans"/>
            </a:endParaRPr>
          </a:p>
        </p:txBody>
      </p:sp>
      <p:pic>
        <p:nvPicPr>
          <p:cNvPr id="2050" name="Picture 2" descr="Write a conference paper by addressing the following aspects - Words Doctorate"/>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34519" y="3026657"/>
            <a:ext cx="10148340" cy="305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323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5</a:t>
            </a:fld>
            <a:endParaRPr lang="en-US"/>
          </a:p>
        </p:txBody>
      </p:sp>
      <p:sp>
        <p:nvSpPr>
          <p:cNvPr id="4" name="TextBox 3"/>
          <p:cNvSpPr txBox="1"/>
          <p:nvPr/>
        </p:nvSpPr>
        <p:spPr>
          <a:xfrm>
            <a:off x="512162" y="149901"/>
            <a:ext cx="11377535" cy="584775"/>
          </a:xfrm>
          <a:prstGeom prst="rect">
            <a:avLst/>
          </a:prstGeom>
          <a:noFill/>
        </p:spPr>
        <p:txBody>
          <a:bodyPr wrap="square" rtlCol="0">
            <a:spAutoFit/>
          </a:bodyPr>
          <a:lstStyle/>
          <a:p>
            <a:pPr algn="ctr"/>
            <a:r>
              <a:rPr lang="en-US" sz="3200" b="1" dirty="0"/>
              <a:t>Write a Conference Paper for Peer-review</a:t>
            </a:r>
          </a:p>
        </p:txBody>
      </p:sp>
      <p:sp>
        <p:nvSpPr>
          <p:cNvPr id="6" name="TextBox 5"/>
          <p:cNvSpPr txBox="1"/>
          <p:nvPr/>
        </p:nvSpPr>
        <p:spPr>
          <a:xfrm>
            <a:off x="1278536" y="1321634"/>
            <a:ext cx="8619344" cy="584775"/>
          </a:xfrm>
          <a:prstGeom prst="rect">
            <a:avLst/>
          </a:prstGeom>
          <a:noFill/>
        </p:spPr>
        <p:txBody>
          <a:bodyPr wrap="square" rtlCol="0">
            <a:spAutoFit/>
          </a:bodyPr>
          <a:lstStyle/>
          <a:p>
            <a:pPr algn="ctr"/>
            <a:endParaRPr lang="en-IN" sz="32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07231" y="782146"/>
            <a:ext cx="11377535" cy="4832092"/>
          </a:xfrm>
          <a:prstGeom prst="rect">
            <a:avLst/>
          </a:prstGeom>
          <a:noFill/>
        </p:spPr>
        <p:txBody>
          <a:bodyPr wrap="square" rtlCol="0">
            <a:spAutoFit/>
          </a:bodyPr>
          <a:lstStyle/>
          <a:p>
            <a:r>
              <a:rPr lang="en-US" dirty="0"/>
              <a:t>Since the conference paper gets presented to scholars, make sure that you maintain complete professionalism while making the presentation. There should be an adequate amount of clarity in your language and a comprehensive way of presenting every justification. When you write a conference paper, remain specific about supporting your logical sentences with in-text citations. Always explain the reasons to either support or reject the particular thought of the former researcher. Enlist the sources of the in-text citation in the Reference List.</a:t>
            </a:r>
          </a:p>
          <a:p>
            <a:r>
              <a:rPr lang="en-US" dirty="0"/>
              <a:t>      While explaining your research context use transitional phrases, such as-</a:t>
            </a:r>
          </a:p>
          <a:p>
            <a:r>
              <a:rPr lang="en-US" dirty="0"/>
              <a:t>‘therefore’, ‘hence’, ‘consequently’, ‘moreover’, ‘meanwhile’, ‘however’, ‘therefore’.</a:t>
            </a:r>
          </a:p>
          <a:p>
            <a:endParaRPr lang="en-US" dirty="0"/>
          </a:p>
          <a:p>
            <a:r>
              <a:rPr lang="en-US" dirty="0"/>
              <a:t>Always prefer to address the systematic mode of explanation in a very step-by-step manner. Always use ordinals and signpost phrases, such as –</a:t>
            </a:r>
          </a:p>
          <a:p>
            <a:r>
              <a:rPr lang="en-US" dirty="0"/>
              <a:t>‘firstly’, secondly’, ‘next’, 'This essay critically examines', ‘The major issue…’, 'This essay is </a:t>
            </a:r>
            <a:r>
              <a:rPr lang="en-US" dirty="0" err="1"/>
              <a:t>organised</a:t>
            </a:r>
            <a:r>
              <a:rPr lang="en-US" dirty="0"/>
              <a:t> ...'.</a:t>
            </a:r>
          </a:p>
          <a:p>
            <a:endParaRPr lang="en-US" dirty="0"/>
          </a:p>
          <a:p>
            <a:r>
              <a:rPr lang="en-US" dirty="0"/>
              <a:t> Open debates for discussions and remain ready for feedbacks and rejections from your peers. If you are getting a notable amount of critical points of view, then consider your conference paper as a success. Gaining the attention of your peers adds relevance and significance to your conference paper. Always welcome and appreciate their ideologies and school of thinking.  </a:t>
            </a:r>
          </a:p>
          <a:p>
            <a:r>
              <a:rPr lang="en-US" sz="2000" dirty="0"/>
              <a:t> </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88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6</a:t>
            </a:fld>
            <a:endParaRPr lang="en-US"/>
          </a:p>
        </p:txBody>
      </p:sp>
      <p:sp>
        <p:nvSpPr>
          <p:cNvPr id="4" name="TextBox 3"/>
          <p:cNvSpPr txBox="1"/>
          <p:nvPr/>
        </p:nvSpPr>
        <p:spPr>
          <a:xfrm>
            <a:off x="1588957" y="149901"/>
            <a:ext cx="8619344" cy="584775"/>
          </a:xfrm>
          <a:prstGeom prst="rect">
            <a:avLst/>
          </a:prstGeom>
          <a:noFill/>
        </p:spPr>
        <p:txBody>
          <a:bodyPr wrap="square" rtlCol="0">
            <a:spAutoFit/>
          </a:bodyPr>
          <a:lstStyle/>
          <a:p>
            <a:pPr algn="ctr"/>
            <a:r>
              <a:rPr lang="en-IN" sz="3200" dirty="0"/>
              <a:t>Writing a Journal paper </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278536" y="1321634"/>
            <a:ext cx="8619344" cy="584775"/>
          </a:xfrm>
          <a:prstGeom prst="rect">
            <a:avLst/>
          </a:prstGeom>
          <a:noFill/>
        </p:spPr>
        <p:txBody>
          <a:bodyPr wrap="square" rtlCol="0">
            <a:spAutoFit/>
          </a:bodyPr>
          <a:lstStyle/>
          <a:p>
            <a:pPr algn="ctr"/>
            <a:endParaRPr lang="en-IN" sz="3200" dirty="0">
              <a:latin typeface="Times New Roman" panose="02020603050405020304" pitchFamily="18" charset="0"/>
              <a:cs typeface="Times New Roman" panose="02020603050405020304" pitchFamily="18" charset="0"/>
            </a:endParaRPr>
          </a:p>
        </p:txBody>
      </p:sp>
      <p:pic>
        <p:nvPicPr>
          <p:cNvPr id="3074" name="Picture 2" descr="Research Paper Format - Examples, Format, How to choose, PDF"/>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88957" y="734676"/>
            <a:ext cx="9620606" cy="5486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23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7</a:t>
            </a:fld>
            <a:endParaRPr lang="en-US"/>
          </a:p>
        </p:txBody>
      </p:sp>
      <p:sp>
        <p:nvSpPr>
          <p:cNvPr id="4" name="TextBox 3"/>
          <p:cNvSpPr txBox="1"/>
          <p:nvPr/>
        </p:nvSpPr>
        <p:spPr>
          <a:xfrm>
            <a:off x="1588957" y="149901"/>
            <a:ext cx="8619344" cy="584775"/>
          </a:xfrm>
          <a:prstGeom prst="rect">
            <a:avLst/>
          </a:prstGeom>
          <a:noFill/>
        </p:spPr>
        <p:txBody>
          <a:bodyPr wrap="square" rtlCol="0">
            <a:spAutoFit/>
          </a:bodyPr>
          <a:lstStyle/>
          <a:p>
            <a:pPr algn="ctr"/>
            <a:r>
              <a:rPr lang="en-US" sz="3200" dirty="0"/>
              <a:t>Writing a Technical report </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14793" y="734676"/>
            <a:ext cx="11512446" cy="5109091"/>
          </a:xfrm>
          <a:prstGeom prst="rect">
            <a:avLst/>
          </a:prstGeom>
          <a:noFill/>
        </p:spPr>
        <p:txBody>
          <a:bodyPr wrap="square" rtlCol="0">
            <a:spAutoFit/>
          </a:bodyPr>
          <a:lstStyle/>
          <a:p>
            <a:r>
              <a:rPr lang="en-US" b="1" dirty="0"/>
              <a:t>What is a Technical Report? (Definition): </a:t>
            </a:r>
          </a:p>
          <a:p>
            <a:r>
              <a:rPr lang="en-US" dirty="0"/>
              <a:t>A technical report is described as a written scientific document that conveys information about technical research in an objective and fact-based manner. This technical report consists of the three key features of a research </a:t>
            </a:r>
            <a:r>
              <a:rPr lang="en-US" dirty="0" err="1"/>
              <a:t>i.e</a:t>
            </a:r>
            <a:r>
              <a:rPr lang="en-US" dirty="0"/>
              <a:t> process, progress, and results associated with it.</a:t>
            </a:r>
          </a:p>
          <a:p>
            <a:r>
              <a:rPr lang="en-US" dirty="0"/>
              <a:t>Some common areas in which technical reports are used are agriculture, engineering, physical, and biomedical science. So, such complicated information must be conveyed by a report that is easily readable and efficient.</a:t>
            </a:r>
          </a:p>
          <a:p>
            <a:r>
              <a:rPr lang="en-US" dirty="0"/>
              <a:t>Similarly, before writing a technical report, you must keep in mind who your reader is going to be.</a:t>
            </a:r>
          </a:p>
          <a:p>
            <a:r>
              <a:rPr lang="en-US" dirty="0"/>
              <a:t>Whether it is professors, industry professionals, or even customers looking to buy your project – studying the target audience enables you to start structuring your report. It gives you an idea of the existing knowledge level of the reader and how much information you need to put in the report.</a:t>
            </a:r>
          </a:p>
          <a:p>
            <a:r>
              <a:rPr lang="en-US" b="1" dirty="0"/>
              <a:t>Step 1: Understand the Purpose and Audience</a:t>
            </a:r>
          </a:p>
          <a:p>
            <a:r>
              <a:rPr lang="en-US" b="1" dirty="0"/>
              <a:t>Step 2: Gather and Organize Information</a:t>
            </a:r>
          </a:p>
          <a:p>
            <a:r>
              <a:rPr lang="en-US" b="1" dirty="0"/>
              <a:t>Step 3: Write the Introduction</a:t>
            </a:r>
          </a:p>
          <a:p>
            <a:r>
              <a:rPr lang="en-US" b="1" dirty="0"/>
              <a:t>Step 4: Describe the Methodology</a:t>
            </a:r>
          </a:p>
          <a:p>
            <a:r>
              <a:rPr lang="en-US" b="1" dirty="0"/>
              <a:t>Step 5: Present the Results</a:t>
            </a:r>
          </a:p>
          <a:p>
            <a:r>
              <a:rPr lang="en-US" b="1" dirty="0"/>
              <a:t>Step 6: Discuss the Findings</a:t>
            </a:r>
          </a:p>
          <a:p>
            <a:r>
              <a:rPr lang="en-US" b="1" dirty="0"/>
              <a:t>Step 7: Conclude and Recommend</a:t>
            </a: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8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8</a:t>
            </a:fld>
            <a:endParaRPr lang="en-US"/>
          </a:p>
        </p:txBody>
      </p:sp>
      <p:sp>
        <p:nvSpPr>
          <p:cNvPr id="4" name="TextBox 3"/>
          <p:cNvSpPr txBox="1"/>
          <p:nvPr/>
        </p:nvSpPr>
        <p:spPr>
          <a:xfrm>
            <a:off x="1761344" y="-7729"/>
            <a:ext cx="8619344" cy="584775"/>
          </a:xfrm>
          <a:prstGeom prst="rect">
            <a:avLst/>
          </a:prstGeom>
          <a:noFill/>
        </p:spPr>
        <p:txBody>
          <a:bodyPr wrap="square" rtlCol="0">
            <a:spAutoFit/>
          </a:bodyPr>
          <a:lstStyle/>
          <a:p>
            <a:pPr algn="ctr"/>
            <a:r>
              <a:rPr lang="en-IN" sz="3200" dirty="0"/>
              <a:t>dissertation/thesis writing.</a:t>
            </a:r>
            <a:endParaRPr lang="en-IN" sz="3200" dirty="0">
              <a:latin typeface="Times New Roman" panose="02020603050405020304" pitchFamily="18" charset="0"/>
              <a:cs typeface="Times New Roman" panose="02020603050405020304" pitchFamily="18" charset="0"/>
            </a:endParaRPr>
          </a:p>
        </p:txBody>
      </p:sp>
      <p:pic>
        <p:nvPicPr>
          <p:cNvPr id="1026" name="Picture 2" descr="How to Write Methodologies for a Dissertation"/>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55182" y="734517"/>
            <a:ext cx="10262588" cy="505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507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9</a:t>
            </a:fld>
            <a:endParaRPr lang="en-US"/>
          </a:p>
        </p:txBody>
      </p:sp>
      <p:sp>
        <p:nvSpPr>
          <p:cNvPr id="4" name="TextBox 3"/>
          <p:cNvSpPr txBox="1"/>
          <p:nvPr/>
        </p:nvSpPr>
        <p:spPr>
          <a:xfrm>
            <a:off x="1588957" y="344774"/>
            <a:ext cx="8619344" cy="584775"/>
          </a:xfrm>
          <a:prstGeom prst="rect">
            <a:avLst/>
          </a:prstGeom>
          <a:noFill/>
        </p:spPr>
        <p:txBody>
          <a:bodyPr wrap="square" rtlCol="0">
            <a:spAutoFit/>
          </a:bodyPr>
          <a:lstStyle/>
          <a:p>
            <a:pPr algn="ctr"/>
            <a:r>
              <a:rPr lang="en-US" sz="3200" b="1" dirty="0"/>
              <a:t>7 steps to writing a dissertation/thesis</a:t>
            </a:r>
          </a:p>
        </p:txBody>
      </p:sp>
      <p:sp>
        <p:nvSpPr>
          <p:cNvPr id="6" name="TextBox 5"/>
          <p:cNvSpPr txBox="1"/>
          <p:nvPr/>
        </p:nvSpPr>
        <p:spPr>
          <a:xfrm>
            <a:off x="401559" y="929708"/>
            <a:ext cx="11667345" cy="4524315"/>
          </a:xfrm>
          <a:prstGeom prst="rect">
            <a:avLst/>
          </a:prstGeom>
          <a:noFill/>
        </p:spPr>
        <p:txBody>
          <a:bodyPr wrap="square" rtlCol="0">
            <a:spAutoFit/>
          </a:bodyPr>
          <a:lstStyle/>
          <a:p>
            <a:pPr marL="342900" indent="-342900">
              <a:buAutoNum type="arabicPeriod"/>
            </a:pPr>
            <a:r>
              <a:rPr lang="en-IN" sz="3600" dirty="0"/>
              <a:t>Choose your topic wisely</a:t>
            </a:r>
          </a:p>
          <a:p>
            <a:pPr marL="342900" indent="-342900">
              <a:buFontTx/>
              <a:buAutoNum type="arabicPeriod"/>
            </a:pPr>
            <a:r>
              <a:rPr lang="en-US" sz="3600" dirty="0"/>
              <a:t>Check what's required of you</a:t>
            </a:r>
          </a:p>
          <a:p>
            <a:pPr marL="342900" indent="-342900">
              <a:buFontTx/>
              <a:buAutoNum type="arabicPeriod"/>
            </a:pPr>
            <a:r>
              <a:rPr lang="en-IN" sz="3600" dirty="0"/>
              <a:t>Conduct in-depth research</a:t>
            </a:r>
          </a:p>
          <a:p>
            <a:pPr marL="342900" indent="-342900">
              <a:buFontTx/>
              <a:buAutoNum type="arabicPeriod"/>
            </a:pPr>
            <a:r>
              <a:rPr lang="en-US" sz="3600" dirty="0"/>
              <a:t>Develop a strong thesis statement</a:t>
            </a:r>
          </a:p>
          <a:p>
            <a:pPr marL="342900" indent="-342900">
              <a:buFontTx/>
              <a:buAutoNum type="arabicPeriod"/>
            </a:pPr>
            <a:r>
              <a:rPr lang="en-IN" sz="3600" dirty="0"/>
              <a:t>Proofread and edit</a:t>
            </a:r>
          </a:p>
          <a:p>
            <a:pPr marL="342900" indent="-342900">
              <a:buFontTx/>
              <a:buAutoNum type="arabicPeriod"/>
            </a:pPr>
            <a:r>
              <a:rPr lang="en-IN" sz="3600" dirty="0"/>
              <a:t>Seek feedback and finalise</a:t>
            </a:r>
          </a:p>
          <a:p>
            <a:pPr marL="342900" indent="-342900">
              <a:buFontTx/>
              <a:buAutoNum type="arabicPeriod"/>
            </a:pPr>
            <a:r>
              <a:rPr lang="en-IN" sz="3600" dirty="0"/>
              <a:t>Submit</a:t>
            </a:r>
          </a:p>
          <a:p>
            <a:endParaRPr lang="en-IN" sz="3600" dirty="0"/>
          </a:p>
        </p:txBody>
      </p:sp>
    </p:spTree>
    <p:extLst>
      <p:ext uri="{BB962C8B-B14F-4D97-AF65-F5344CB8AC3E}">
        <p14:creationId xmlns:p14="http://schemas.microsoft.com/office/powerpoint/2010/main" val="259025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10</a:t>
            </a:fld>
            <a:endParaRPr lang="en-US"/>
          </a:p>
        </p:txBody>
      </p:sp>
      <p:sp>
        <p:nvSpPr>
          <p:cNvPr id="4" name="TextBox 3"/>
          <p:cNvSpPr txBox="1"/>
          <p:nvPr/>
        </p:nvSpPr>
        <p:spPr>
          <a:xfrm>
            <a:off x="1588957" y="149901"/>
            <a:ext cx="8619344" cy="584775"/>
          </a:xfrm>
          <a:prstGeom prst="rect">
            <a:avLst/>
          </a:prstGeom>
          <a:noFill/>
        </p:spPr>
        <p:txBody>
          <a:bodyPr wrap="square" rtlCol="0">
            <a:spAutoFit/>
          </a:bodyPr>
          <a:lstStyle/>
          <a:p>
            <a:pPr algn="ctr"/>
            <a:r>
              <a:rPr lang="en-IN" sz="3200" dirty="0"/>
              <a:t>Presentation techniques</a:t>
            </a:r>
            <a:endParaRPr lang="en-IN" sz="3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34845" y="734676"/>
            <a:ext cx="11722308" cy="7109639"/>
          </a:xfrm>
          <a:prstGeom prst="rect">
            <a:avLst/>
          </a:prstGeom>
          <a:noFill/>
        </p:spPr>
        <p:txBody>
          <a:bodyPr wrap="square" rtlCol="0">
            <a:spAutoFit/>
          </a:bodyPr>
          <a:lstStyle/>
          <a:p>
            <a:endParaRPr lang="en-US" dirty="0"/>
          </a:p>
          <a:p>
            <a:pPr marL="342900" indent="-342900">
              <a:buAutoNum type="arabicPeriod"/>
            </a:pPr>
            <a:r>
              <a:rPr lang="en-IN" sz="3200" dirty="0"/>
              <a:t>Plan your presentation</a:t>
            </a:r>
          </a:p>
          <a:p>
            <a:pPr marL="342900" indent="-342900">
              <a:buFontTx/>
              <a:buAutoNum type="arabicPeriod"/>
            </a:pPr>
            <a:r>
              <a:rPr lang="en-IN" sz="3200" dirty="0"/>
              <a:t>Know your audience</a:t>
            </a:r>
          </a:p>
          <a:p>
            <a:pPr marL="342900" indent="-342900">
              <a:buFontTx/>
              <a:buAutoNum type="arabicPeriod"/>
            </a:pPr>
            <a:r>
              <a:rPr lang="en-IN" sz="3200" dirty="0"/>
              <a:t>Presentation outline</a:t>
            </a:r>
          </a:p>
          <a:p>
            <a:pPr marL="342900" indent="-342900">
              <a:buFontTx/>
              <a:buAutoNum type="arabicPeriod"/>
            </a:pPr>
            <a:r>
              <a:rPr lang="en-IN" sz="3200" dirty="0"/>
              <a:t>Keep it simple</a:t>
            </a:r>
          </a:p>
          <a:p>
            <a:pPr marL="342900" indent="-342900">
              <a:buFontTx/>
              <a:buAutoNum type="arabicPeriod"/>
            </a:pPr>
            <a:r>
              <a:rPr lang="en-IN" sz="3200" dirty="0"/>
              <a:t>Storytelling</a:t>
            </a:r>
          </a:p>
          <a:p>
            <a:pPr marL="342900" indent="-342900">
              <a:buFontTx/>
              <a:buAutoNum type="arabicPeriod"/>
            </a:pPr>
            <a:r>
              <a:rPr lang="en-IN" sz="3200" dirty="0"/>
              <a:t>Visual aids</a:t>
            </a:r>
          </a:p>
          <a:p>
            <a:pPr marL="342900" indent="-342900">
              <a:buFontTx/>
              <a:buAutoNum type="arabicPeriod"/>
            </a:pPr>
            <a:r>
              <a:rPr lang="en-IN" sz="3200" dirty="0"/>
              <a:t>Clear call-to-action</a:t>
            </a:r>
          </a:p>
          <a:p>
            <a:pPr marL="342900" indent="-342900">
              <a:buFontTx/>
              <a:buAutoNum type="arabicPeriod"/>
            </a:pPr>
            <a:r>
              <a:rPr lang="en-IN" sz="3200" dirty="0"/>
              <a:t>Q &amp; A session</a:t>
            </a:r>
          </a:p>
          <a:p>
            <a:pPr marL="342900" indent="-342900">
              <a:buFontTx/>
              <a:buAutoNum type="arabicPeriod"/>
            </a:pPr>
            <a:r>
              <a:rPr lang="en-IN" sz="3200" dirty="0"/>
              <a:t>Improvise</a:t>
            </a:r>
          </a:p>
          <a:p>
            <a:pPr marL="342900" indent="-342900">
              <a:buFontTx/>
              <a:buAutoNum type="arabicPeriod"/>
            </a:pPr>
            <a:r>
              <a:rPr lang="en-IN" sz="3200" dirty="0"/>
              <a:t>Practice</a:t>
            </a:r>
          </a:p>
          <a:p>
            <a:pPr marL="342900" indent="-342900">
              <a:buAutoNum type="arabicPeriod"/>
            </a:pPr>
            <a:endParaRPr lang="en-IN" sz="3200" dirty="0"/>
          </a:p>
          <a:p>
            <a:endParaRPr lang="en-US" sz="3200" dirty="0"/>
          </a:p>
          <a:p>
            <a:endParaRPr lang="en-US" dirty="0"/>
          </a:p>
          <a:p>
            <a:endParaRPr lang="en-US" dirty="0"/>
          </a:p>
          <a:p>
            <a:endParaRPr lang="en-US" dirty="0"/>
          </a:p>
        </p:txBody>
      </p:sp>
    </p:spTree>
    <p:extLst>
      <p:ext uri="{BB962C8B-B14F-4D97-AF65-F5344CB8AC3E}">
        <p14:creationId xmlns:p14="http://schemas.microsoft.com/office/powerpoint/2010/main" val="1452788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11</a:t>
            </a:fld>
            <a:endParaRPr lang="en-US"/>
          </a:p>
        </p:txBody>
      </p:sp>
      <p:sp>
        <p:nvSpPr>
          <p:cNvPr id="4" name="TextBox 3"/>
          <p:cNvSpPr txBox="1"/>
          <p:nvPr/>
        </p:nvSpPr>
        <p:spPr>
          <a:xfrm>
            <a:off x="1648917" y="284811"/>
            <a:ext cx="8619344" cy="523220"/>
          </a:xfrm>
          <a:prstGeom prst="rect">
            <a:avLst/>
          </a:prstGeom>
          <a:noFill/>
        </p:spPr>
        <p:txBody>
          <a:bodyPr wrap="square" rtlCol="0">
            <a:spAutoFit/>
          </a:bodyPr>
          <a:lstStyle/>
          <a:p>
            <a:pPr algn="ctr"/>
            <a:r>
              <a:rPr lang="en-US" sz="2800" dirty="0"/>
              <a:t>software used for report writing such as WORD, Latex etc. </a:t>
            </a:r>
            <a:endParaRPr lang="en-IN" sz="2800" dirty="0"/>
          </a:p>
        </p:txBody>
      </p:sp>
      <p:sp>
        <p:nvSpPr>
          <p:cNvPr id="5" name="Rectangle 4"/>
          <p:cNvSpPr/>
          <p:nvPr/>
        </p:nvSpPr>
        <p:spPr>
          <a:xfrm>
            <a:off x="257330" y="808031"/>
            <a:ext cx="11617377" cy="5940088"/>
          </a:xfrm>
          <a:prstGeom prst="rect">
            <a:avLst/>
          </a:prstGeom>
        </p:spPr>
        <p:txBody>
          <a:bodyPr wrap="square">
            <a:spAutoFit/>
          </a:bodyPr>
          <a:lstStyle/>
          <a:p>
            <a:pPr algn="just"/>
            <a:r>
              <a:rPr lang="en-US" dirty="0"/>
              <a:t>1. </a:t>
            </a:r>
            <a:r>
              <a:rPr lang="en-US" dirty="0" err="1"/>
              <a:t>LaTeX</a:t>
            </a:r>
            <a:r>
              <a:rPr lang="en-US" dirty="0"/>
              <a:t> is a high-quality typesetting system; it includes features designed for the production of technical and scientific documentation. </a:t>
            </a:r>
            <a:r>
              <a:rPr lang="en-US" dirty="0" err="1"/>
              <a:t>LaTeX</a:t>
            </a:r>
            <a:r>
              <a:rPr lang="en-US" dirty="0"/>
              <a:t> is the de facto standard for the communication and publication of scientific documents. </a:t>
            </a:r>
            <a:r>
              <a:rPr lang="en-US" dirty="0" err="1"/>
              <a:t>LaTeX</a:t>
            </a:r>
            <a:r>
              <a:rPr lang="en-US" dirty="0"/>
              <a:t> is available as </a:t>
            </a:r>
            <a:r>
              <a:rPr lang="en-US" u="sng" dirty="0">
                <a:hlinkClick r:id="rId2"/>
              </a:rPr>
              <a:t>free software</a:t>
            </a:r>
            <a:r>
              <a:rPr lang="en-US" dirty="0"/>
              <a:t>. </a:t>
            </a:r>
          </a:p>
          <a:p>
            <a:pPr algn="just"/>
            <a:r>
              <a:rPr lang="en-US" dirty="0"/>
              <a:t>2. LATEX is an extremely powerful markup language for creating structured documents. It is particularly well suited for documents containing mathematics, but can be used for any document. Those whose publications involve a large number of mathematical equations often use LATEX rather than MS Word or some other word processing package. It is the standard writing tool for most research in the mathematical, physical and engineering sciences. </a:t>
            </a:r>
          </a:p>
          <a:p>
            <a:pPr algn="just"/>
            <a:r>
              <a:rPr lang="en-US" dirty="0"/>
              <a:t>3. Latex provides a facility for pdf output so that it is easy to share your research with other people who do not have LATEX installed. Remarkably, LATEX is freeware. LATEX is widely used in academia for the communication and publication of scientific documents in many fields, including mathematics, statistics, computer science, engineering, chemistry, physics, economics, quantitative psychology, philosophy, and political science etc. </a:t>
            </a:r>
          </a:p>
          <a:p>
            <a:pPr algn="just"/>
            <a:r>
              <a:rPr lang="en-US" dirty="0"/>
              <a:t>4. Latex, which is a high quality typesetting software, is extensively used for preparing technical and scientific articles. Though Latex has a learning curve, compared to other word processors, it offers several benefits such as typesetting journal articles, reports and books with professional quality, control over large documents that contain sections, figures and tables.</a:t>
            </a:r>
          </a:p>
          <a:p>
            <a:pPr algn="just"/>
            <a:r>
              <a:rPr lang="en-US" dirty="0"/>
              <a:t>5.  </a:t>
            </a:r>
            <a:r>
              <a:rPr lang="en-US" dirty="0" err="1"/>
              <a:t>LaTeX</a:t>
            </a:r>
            <a:r>
              <a:rPr lang="en-US" dirty="0"/>
              <a:t> allows authors to focus on the content of what they are writing and the </a:t>
            </a:r>
            <a:r>
              <a:rPr lang="en-US" dirty="0" err="1"/>
              <a:t>LaTeX</a:t>
            </a:r>
            <a:r>
              <a:rPr lang="en-US" dirty="0"/>
              <a:t> system will take care of its visual appearance like formatting, layout etc. </a:t>
            </a:r>
          </a:p>
          <a:p>
            <a:pPr algn="just"/>
            <a:r>
              <a:rPr lang="en-US" dirty="0"/>
              <a:t>  </a:t>
            </a:r>
            <a:r>
              <a:rPr lang="en-US" dirty="0" err="1"/>
              <a:t>Hence,it</a:t>
            </a:r>
            <a:r>
              <a:rPr lang="en-US" dirty="0"/>
              <a:t>  provide a clear understanding of the basics of technical writing which will enable the participants to communicate their ideas effectively in the form of technical reports, journal papers etc. using the technical writing tool LATEX. </a:t>
            </a:r>
            <a:br>
              <a:rPr lang="en-US" dirty="0"/>
            </a:br>
            <a:endParaRPr lang="en-IN" sz="2000" dirty="0"/>
          </a:p>
        </p:txBody>
      </p:sp>
    </p:spTree>
    <p:extLst>
      <p:ext uri="{BB962C8B-B14F-4D97-AF65-F5344CB8AC3E}">
        <p14:creationId xmlns:p14="http://schemas.microsoft.com/office/powerpoint/2010/main" val="1323344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latin typeface="Corbel"/>
              </a:rPr>
              <a:t>Copyright © 2019 Veritas Technologies LLC</a:t>
            </a:r>
          </a:p>
        </p:txBody>
      </p:sp>
      <p:sp>
        <p:nvSpPr>
          <p:cNvPr id="3" name="Slide Number Placeholder 2"/>
          <p:cNvSpPr>
            <a:spLocks noGrp="1"/>
          </p:cNvSpPr>
          <p:nvPr>
            <p:ph type="sldNum" sz="quarter" idx="12"/>
          </p:nvPr>
        </p:nvSpPr>
        <p:spPr/>
        <p:txBody>
          <a:bodyPr/>
          <a:lstStyle/>
          <a:p>
            <a:pPr algn="l"/>
            <a:fld id="{C1960183-D323-4677-9D78-78D1D39B0029}" type="slidenum">
              <a:rPr lang="en-US" smtClean="0"/>
              <a:pPr algn="l"/>
              <a:t>12</a:t>
            </a:fld>
            <a:endParaRPr lang="en-US"/>
          </a:p>
        </p:txBody>
      </p:sp>
      <p:sp>
        <p:nvSpPr>
          <p:cNvPr id="4" name="TextBox 3"/>
          <p:cNvSpPr txBox="1"/>
          <p:nvPr/>
        </p:nvSpPr>
        <p:spPr>
          <a:xfrm>
            <a:off x="1934377" y="235940"/>
            <a:ext cx="8619344" cy="584775"/>
          </a:xfrm>
          <a:prstGeom prst="rect">
            <a:avLst/>
          </a:prstGeom>
          <a:noFill/>
        </p:spPr>
        <p:txBody>
          <a:bodyPr wrap="square" rtlCol="0">
            <a:spAutoFit/>
          </a:bodyPr>
          <a:lstStyle/>
          <a:p>
            <a:pPr algn="ctr"/>
            <a:r>
              <a:rPr lang="en-IN" sz="3200" dirty="0"/>
              <a:t>Types of journal/conference papers </a:t>
            </a:r>
            <a:endParaRPr lang="en-IN" sz="3200" dirty="0">
              <a:latin typeface="Times New Roman" panose="02020603050405020304" pitchFamily="18" charset="0"/>
              <a:cs typeface="Times New Roman" panose="02020603050405020304" pitchFamily="18" charset="0"/>
            </a:endParaRPr>
          </a:p>
        </p:txBody>
      </p:sp>
      <p:sp>
        <p:nvSpPr>
          <p:cNvPr id="5" name="Rectangle 4"/>
          <p:cNvSpPr/>
          <p:nvPr/>
        </p:nvSpPr>
        <p:spPr>
          <a:xfrm>
            <a:off x="307975" y="820715"/>
            <a:ext cx="11617377" cy="5663089"/>
          </a:xfrm>
          <a:prstGeom prst="rect">
            <a:avLst/>
          </a:prstGeom>
        </p:spPr>
        <p:txBody>
          <a:bodyPr wrap="square">
            <a:spAutoFit/>
          </a:bodyPr>
          <a:lstStyle/>
          <a:p>
            <a:pPr algn="just" fontAlgn="ctr"/>
            <a:r>
              <a:rPr lang="en-US" dirty="0"/>
              <a:t>There are many types of journal and conference papers, including: </a:t>
            </a:r>
          </a:p>
          <a:p>
            <a:pPr algn="just" fontAlgn="ctr"/>
            <a:r>
              <a:rPr lang="en-US" dirty="0"/>
              <a:t>Abstract: A short summary of your research, usually 250 words or less. </a:t>
            </a:r>
          </a:p>
          <a:p>
            <a:pPr algn="just" fontAlgn="ctr"/>
            <a:r>
              <a:rPr lang="en-US" dirty="0"/>
              <a:t>Extended abstract: A high-level summary of your research, usually less than 2 pages. </a:t>
            </a:r>
          </a:p>
          <a:p>
            <a:pPr algn="just" fontAlgn="ctr"/>
            <a:r>
              <a:rPr lang="en-US" dirty="0"/>
              <a:t>Full paper: A complete paper that describes your research in full, usually 6-8 pages long. </a:t>
            </a:r>
          </a:p>
          <a:p>
            <a:pPr algn="just" fontAlgn="ctr"/>
            <a:r>
              <a:rPr lang="en-US" dirty="0"/>
              <a:t>Research poster: A poster that can be 1-2 pages long. </a:t>
            </a:r>
          </a:p>
          <a:p>
            <a:pPr algn="just" fontAlgn="ctr"/>
            <a:r>
              <a:rPr lang="en-US" dirty="0"/>
              <a:t>Research-in-progress presentation: A presentation that can be 3-10 pages long. </a:t>
            </a:r>
          </a:p>
          <a:p>
            <a:pPr algn="just" fontAlgn="ctr"/>
            <a:r>
              <a:rPr lang="en-US" dirty="0"/>
              <a:t>Original article: A type of journal manuscript. </a:t>
            </a:r>
          </a:p>
          <a:p>
            <a:pPr algn="just" fontAlgn="ctr"/>
            <a:r>
              <a:rPr lang="en-US" dirty="0"/>
              <a:t>Review article: A type of journal manuscript. </a:t>
            </a:r>
          </a:p>
          <a:p>
            <a:pPr algn="just" fontAlgn="ctr"/>
            <a:r>
              <a:rPr lang="en-US" dirty="0"/>
              <a:t>Case report: A type of journal manuscript. </a:t>
            </a:r>
          </a:p>
          <a:p>
            <a:pPr algn="just" fontAlgn="ctr"/>
            <a:r>
              <a:rPr lang="en-US" dirty="0"/>
              <a:t>Case study: A type of journal manuscript. </a:t>
            </a:r>
          </a:p>
          <a:p>
            <a:pPr algn="just" fontAlgn="ctr"/>
            <a:r>
              <a:rPr lang="en-US" dirty="0"/>
              <a:t>Editorial note: A type of journal manuscript. </a:t>
            </a:r>
          </a:p>
          <a:p>
            <a:pPr algn="just" fontAlgn="ctr"/>
            <a:r>
              <a:rPr lang="en-US" dirty="0"/>
              <a:t>Short communication: A type of journal manuscript. </a:t>
            </a:r>
          </a:p>
          <a:p>
            <a:br>
              <a:rPr lang="en-US" dirty="0"/>
            </a:br>
            <a:r>
              <a:rPr lang="en-US" dirty="0"/>
              <a:t>Example: </a:t>
            </a:r>
            <a:r>
              <a:rPr lang="en-IN" b="1" dirty="0"/>
              <a:t>Types of IEEE Conference Papers</a:t>
            </a:r>
            <a:endParaRPr lang="en-IN" dirty="0"/>
          </a:p>
          <a:p>
            <a:r>
              <a:rPr lang="en-IN" dirty="0"/>
              <a:t>Abstract: Synopsis of your research (250 words or less)</a:t>
            </a:r>
          </a:p>
          <a:p>
            <a:r>
              <a:rPr lang="en-IN" dirty="0"/>
              <a:t>Extended abstract: High-level summary of your research (less than 2 pages)</a:t>
            </a:r>
          </a:p>
          <a:p>
            <a:r>
              <a:rPr lang="en-IN" dirty="0"/>
              <a:t>Brief or short paper: Summary of your research (less than 4 pages)</a:t>
            </a:r>
          </a:p>
          <a:p>
            <a:r>
              <a:rPr lang="en-IN" dirty="0"/>
              <a:t>Full paper: Complete paper describing your research in full (6-8 pages)</a:t>
            </a:r>
          </a:p>
          <a:p>
            <a:br>
              <a:rPr lang="en-IN" dirty="0"/>
            </a:br>
            <a:endParaRPr lang="en-IN" sz="2000" dirty="0"/>
          </a:p>
        </p:txBody>
      </p:sp>
      <p:sp>
        <p:nvSpPr>
          <p:cNvPr id="6" name="AutoShape 2" descr="Experimental-Desig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Experimental-Desig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386618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80530F67426E4C9DC8043D2AAC5295" ma:contentTypeVersion="9" ma:contentTypeDescription="Create a new document." ma:contentTypeScope="" ma:versionID="e8400d64b8d0c21ff58498d791548185">
  <xsd:schema xmlns:xsd="http://www.w3.org/2001/XMLSchema" xmlns:xs="http://www.w3.org/2001/XMLSchema" xmlns:p="http://schemas.microsoft.com/office/2006/metadata/properties" xmlns:ns3="62edbc69-65e7-4eaa-949a-b07eebbda30f" xmlns:ns4="9d6a2ef0-436f-4240-94dc-62f97ef88059" targetNamespace="http://schemas.microsoft.com/office/2006/metadata/properties" ma:root="true" ma:fieldsID="7408af6772e89edecfcc5a0341cf0c77" ns3:_="" ns4:_="">
    <xsd:import namespace="62edbc69-65e7-4eaa-949a-b07eebbda30f"/>
    <xsd:import namespace="9d6a2ef0-436f-4240-94dc-62f97ef8805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edbc69-65e7-4eaa-949a-b07eebbda30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a2ef0-436f-4240-94dc-62f97ef8805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4331DD-527C-446C-A8EB-6F24EA43E0B5}">
  <ds:schemaRefs>
    <ds:schemaRef ds:uri="http://purl.org/dc/terms/"/>
    <ds:schemaRef ds:uri="62edbc69-65e7-4eaa-949a-b07eebbda30f"/>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9d6a2ef0-436f-4240-94dc-62f97ef88059"/>
    <ds:schemaRef ds:uri="http://purl.org/dc/elements/1.1/"/>
  </ds:schemaRefs>
</ds:datastoreItem>
</file>

<file path=customXml/itemProps2.xml><?xml version="1.0" encoding="utf-8"?>
<ds:datastoreItem xmlns:ds="http://schemas.openxmlformats.org/officeDocument/2006/customXml" ds:itemID="{981D8232-1178-458B-BCE7-B8ED706DAC0B}">
  <ds:schemaRefs>
    <ds:schemaRef ds:uri="http://schemas.microsoft.com/sharepoint/v3/contenttype/forms"/>
  </ds:schemaRefs>
</ds:datastoreItem>
</file>

<file path=customXml/itemProps3.xml><?xml version="1.0" encoding="utf-8"?>
<ds:datastoreItem xmlns:ds="http://schemas.openxmlformats.org/officeDocument/2006/customXml" ds:itemID="{9C3F8C9A-8881-4364-AD9A-B10E9F9BD97B}">
  <ds:schemaRefs>
    <ds:schemaRef ds:uri="62edbc69-65e7-4eaa-949a-b07eebbda30f"/>
    <ds:schemaRef ds:uri="9d6a2ef0-436f-4240-94dc-62f97ef880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Retrospect</Template>
  <TotalTime>7323</TotalTime>
  <Words>1617</Words>
  <Application>Microsoft Office PowerPoint</Application>
  <PresentationFormat>Custom</PresentationFormat>
  <Paragraphs>122</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Calibri Light</vt:lpstr>
      <vt:lpstr>Corbel</vt:lpstr>
      <vt:lpstr>Open Sans</vt:lpstr>
      <vt:lpstr>Times New Roman</vt:lpstr>
      <vt:lpstr>Retrospect</vt:lpstr>
      <vt:lpstr>Research Methodology Module 4  Research Communication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Veritas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Abhay Ghanghav</dc:creator>
  <cp:keywords/>
  <dc:description/>
  <cp:lastModifiedBy>Shruti Lakade</cp:lastModifiedBy>
  <cp:revision>169</cp:revision>
  <dcterms:created xsi:type="dcterms:W3CDTF">2019-02-19T17:37:51Z</dcterms:created>
  <dcterms:modified xsi:type="dcterms:W3CDTF">2025-11-26T08:23:12Z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0x0101006D80530F67426E4C9DC8043D2AAC5295</vt:lpwstr>
  </property>
</Properties>
</file>